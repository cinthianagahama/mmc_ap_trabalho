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oppins Bold" charset="1" panose="00000800000000000000"/>
      <p:regular r:id="rId24"/>
    </p:embeddedFont>
    <p:embeddedFont>
      <p:font typeface="Poppins" charset="1" panose="00000500000000000000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  <p:embeddedFont>
      <p:font typeface="Canva Sans Bold Italics" charset="1" panose="020B0803030501040103"/>
      <p:regular r:id="rId28"/>
    </p:embeddedFont>
    <p:embeddedFont>
      <p:font typeface="Canva Sans Italics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.jpe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sv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2" Target="../media/image4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../media/image25.png" Type="http://schemas.openxmlformats.org/officeDocument/2006/relationships/image"/><Relationship Id="rId8" Target="../media/image26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50592" y="0"/>
            <a:ext cx="10709609" cy="10287000"/>
            <a:chOff x="0" y="0"/>
            <a:chExt cx="84619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6191" cy="812800"/>
            </a:xfrm>
            <a:custGeom>
              <a:avLst/>
              <a:gdLst/>
              <a:ahLst/>
              <a:cxnLst/>
              <a:rect r="r" b="b" t="t" l="l"/>
              <a:pathLst>
                <a:path h="812800" w="846191">
                  <a:moveTo>
                    <a:pt x="86747" y="0"/>
                  </a:moveTo>
                  <a:lnTo>
                    <a:pt x="759444" y="0"/>
                  </a:lnTo>
                  <a:cubicBezTo>
                    <a:pt x="807353" y="0"/>
                    <a:pt x="846191" y="38838"/>
                    <a:pt x="846191" y="86747"/>
                  </a:cubicBezTo>
                  <a:lnTo>
                    <a:pt x="846191" y="726053"/>
                  </a:lnTo>
                  <a:cubicBezTo>
                    <a:pt x="846191" y="773962"/>
                    <a:pt x="807353" y="812800"/>
                    <a:pt x="759444" y="812800"/>
                  </a:cubicBezTo>
                  <a:lnTo>
                    <a:pt x="86747" y="812800"/>
                  </a:lnTo>
                  <a:cubicBezTo>
                    <a:pt x="38838" y="812800"/>
                    <a:pt x="0" y="773962"/>
                    <a:pt x="0" y="726053"/>
                  </a:cubicBezTo>
                  <a:lnTo>
                    <a:pt x="0" y="86747"/>
                  </a:lnTo>
                  <a:cubicBezTo>
                    <a:pt x="0" y="38838"/>
                    <a:pt x="38838" y="0"/>
                    <a:pt x="86747" y="0"/>
                  </a:cubicBezTo>
                  <a:close/>
                </a:path>
              </a:pathLst>
            </a:custGeom>
            <a:blipFill>
              <a:blip r:embed="rId2"/>
              <a:stretch>
                <a:fillRect l="-3249" t="0" r="-5683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889638" y="3158715"/>
            <a:ext cx="7375772" cy="7714640"/>
          </a:xfrm>
          <a:custGeom>
            <a:avLst/>
            <a:gdLst/>
            <a:ahLst/>
            <a:cxnLst/>
            <a:rect r="r" b="b" t="t" l="l"/>
            <a:pathLst>
              <a:path h="7714640" w="7375772">
                <a:moveTo>
                  <a:pt x="0" y="0"/>
                </a:moveTo>
                <a:lnTo>
                  <a:pt x="7375772" y="0"/>
                </a:lnTo>
                <a:lnTo>
                  <a:pt x="7375772" y="7714639"/>
                </a:lnTo>
                <a:lnTo>
                  <a:pt x="0" y="77146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90136" y="660882"/>
            <a:ext cx="39377" cy="3937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C3D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514449" y="2286984"/>
            <a:ext cx="797229" cy="0"/>
          </a:xfrm>
          <a:prstGeom prst="line">
            <a:avLst/>
          </a:prstGeom>
          <a:ln cap="flat" w="190500">
            <a:solidFill>
              <a:srgbClr val="16718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482229" y="2286984"/>
            <a:ext cx="797229" cy="0"/>
          </a:xfrm>
          <a:prstGeom prst="line">
            <a:avLst/>
          </a:prstGeom>
          <a:ln cap="flat" w="190500">
            <a:solidFill>
              <a:srgbClr val="58A9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0514449" y="4896060"/>
            <a:ext cx="6492240" cy="0"/>
          </a:xfrm>
          <a:prstGeom prst="line">
            <a:avLst/>
          </a:prstGeom>
          <a:ln cap="flat" w="38100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514449" y="2567053"/>
            <a:ext cx="6492240" cy="189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60"/>
              </a:lnSpc>
            </a:pPr>
            <a:r>
              <a:rPr lang="en-US" sz="6885" spc="-16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Aprendizagem Profunda - M2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14449" y="5219910"/>
            <a:ext cx="6671836" cy="78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spc="-52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Classificação Automática de Imagens Fluoroscópicas de CPRE via Deep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0975" y="9659992"/>
            <a:ext cx="8310260" cy="35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-7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Grupo: Cinthia Ungefehr, Fabiano Sousa, João Barbosa, Lóren Narrane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43279" y="0"/>
            <a:ext cx="5044721" cy="11854045"/>
            <a:chOff x="0" y="0"/>
            <a:chExt cx="6726295" cy="158053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658636" y="3202694"/>
              <a:ext cx="4067658" cy="2965693"/>
            </a:xfrm>
            <a:custGeom>
              <a:avLst/>
              <a:gdLst/>
              <a:ahLst/>
              <a:cxnLst/>
              <a:rect r="r" b="b" t="t" l="l"/>
              <a:pathLst>
                <a:path h="2965693" w="4067658">
                  <a:moveTo>
                    <a:pt x="0" y="0"/>
                  </a:moveTo>
                  <a:lnTo>
                    <a:pt x="4067659" y="0"/>
                  </a:lnTo>
                  <a:lnTo>
                    <a:pt x="4067659" y="2965693"/>
                  </a:lnTo>
                  <a:lnTo>
                    <a:pt x="0" y="296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658636" y="0"/>
              <a:ext cx="4067658" cy="2965693"/>
            </a:xfrm>
            <a:custGeom>
              <a:avLst/>
              <a:gdLst/>
              <a:ahLst/>
              <a:cxnLst/>
              <a:rect r="r" b="b" t="t" l="l"/>
              <a:pathLst>
                <a:path h="2965693" w="4067658">
                  <a:moveTo>
                    <a:pt x="0" y="0"/>
                  </a:moveTo>
                  <a:lnTo>
                    <a:pt x="4067659" y="0"/>
                  </a:lnTo>
                  <a:lnTo>
                    <a:pt x="4067659" y="2965693"/>
                  </a:lnTo>
                  <a:lnTo>
                    <a:pt x="0" y="296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2658636" y="9583078"/>
              <a:ext cx="4067658" cy="2965693"/>
            </a:xfrm>
            <a:custGeom>
              <a:avLst/>
              <a:gdLst/>
              <a:ahLst/>
              <a:cxnLst/>
              <a:rect r="r" b="b" t="t" l="l"/>
              <a:pathLst>
                <a:path h="2965693" w="4067658">
                  <a:moveTo>
                    <a:pt x="0" y="0"/>
                  </a:moveTo>
                  <a:lnTo>
                    <a:pt x="4067659" y="0"/>
                  </a:lnTo>
                  <a:lnTo>
                    <a:pt x="4067659" y="2965693"/>
                  </a:lnTo>
                  <a:lnTo>
                    <a:pt x="0" y="296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658636" y="6380384"/>
              <a:ext cx="4067658" cy="2965693"/>
            </a:xfrm>
            <a:custGeom>
              <a:avLst/>
              <a:gdLst/>
              <a:ahLst/>
              <a:cxnLst/>
              <a:rect r="r" b="b" t="t" l="l"/>
              <a:pathLst>
                <a:path h="2965693" w="4067658">
                  <a:moveTo>
                    <a:pt x="0" y="0"/>
                  </a:moveTo>
                  <a:lnTo>
                    <a:pt x="4067659" y="0"/>
                  </a:lnTo>
                  <a:lnTo>
                    <a:pt x="4067659" y="2965693"/>
                  </a:lnTo>
                  <a:lnTo>
                    <a:pt x="0" y="296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58636" y="12839700"/>
              <a:ext cx="4067658" cy="2965693"/>
            </a:xfrm>
            <a:custGeom>
              <a:avLst/>
              <a:gdLst/>
              <a:ahLst/>
              <a:cxnLst/>
              <a:rect r="r" b="b" t="t" l="l"/>
              <a:pathLst>
                <a:path h="2965693" w="4067658">
                  <a:moveTo>
                    <a:pt x="0" y="0"/>
                  </a:moveTo>
                  <a:lnTo>
                    <a:pt x="4067659" y="0"/>
                  </a:lnTo>
                  <a:lnTo>
                    <a:pt x="4067659" y="2965693"/>
                  </a:lnTo>
                  <a:lnTo>
                    <a:pt x="0" y="296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3202694"/>
              <a:ext cx="4067658" cy="2965693"/>
            </a:xfrm>
            <a:custGeom>
              <a:avLst/>
              <a:gdLst/>
              <a:ahLst/>
              <a:cxnLst/>
              <a:rect r="r" b="b" t="t" l="l"/>
              <a:pathLst>
                <a:path h="2965693" w="4067658">
                  <a:moveTo>
                    <a:pt x="0" y="0"/>
                  </a:moveTo>
                  <a:lnTo>
                    <a:pt x="4067658" y="0"/>
                  </a:lnTo>
                  <a:lnTo>
                    <a:pt x="4067658" y="2965693"/>
                  </a:lnTo>
                  <a:lnTo>
                    <a:pt x="0" y="296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7658" cy="2965693"/>
            </a:xfrm>
            <a:custGeom>
              <a:avLst/>
              <a:gdLst/>
              <a:ahLst/>
              <a:cxnLst/>
              <a:rect r="r" b="b" t="t" l="l"/>
              <a:pathLst>
                <a:path h="2965693" w="4067658">
                  <a:moveTo>
                    <a:pt x="0" y="0"/>
                  </a:moveTo>
                  <a:lnTo>
                    <a:pt x="4067658" y="0"/>
                  </a:lnTo>
                  <a:lnTo>
                    <a:pt x="4067658" y="2965693"/>
                  </a:lnTo>
                  <a:lnTo>
                    <a:pt x="0" y="296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9583078"/>
              <a:ext cx="4067658" cy="2965693"/>
            </a:xfrm>
            <a:custGeom>
              <a:avLst/>
              <a:gdLst/>
              <a:ahLst/>
              <a:cxnLst/>
              <a:rect r="r" b="b" t="t" l="l"/>
              <a:pathLst>
                <a:path h="2965693" w="4067658">
                  <a:moveTo>
                    <a:pt x="0" y="0"/>
                  </a:moveTo>
                  <a:lnTo>
                    <a:pt x="4067658" y="0"/>
                  </a:lnTo>
                  <a:lnTo>
                    <a:pt x="4067658" y="2965693"/>
                  </a:lnTo>
                  <a:lnTo>
                    <a:pt x="0" y="296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380384"/>
              <a:ext cx="4067658" cy="2965693"/>
            </a:xfrm>
            <a:custGeom>
              <a:avLst/>
              <a:gdLst/>
              <a:ahLst/>
              <a:cxnLst/>
              <a:rect r="r" b="b" t="t" l="l"/>
              <a:pathLst>
                <a:path h="2965693" w="4067658">
                  <a:moveTo>
                    <a:pt x="0" y="0"/>
                  </a:moveTo>
                  <a:lnTo>
                    <a:pt x="4067658" y="0"/>
                  </a:lnTo>
                  <a:lnTo>
                    <a:pt x="4067658" y="2965693"/>
                  </a:lnTo>
                  <a:lnTo>
                    <a:pt x="0" y="296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2839700"/>
              <a:ext cx="4067658" cy="2965693"/>
            </a:xfrm>
            <a:custGeom>
              <a:avLst/>
              <a:gdLst/>
              <a:ahLst/>
              <a:cxnLst/>
              <a:rect r="r" b="b" t="t" l="l"/>
              <a:pathLst>
                <a:path h="2965693" w="4067658">
                  <a:moveTo>
                    <a:pt x="0" y="0"/>
                  </a:moveTo>
                  <a:lnTo>
                    <a:pt x="4067658" y="0"/>
                  </a:lnTo>
                  <a:lnTo>
                    <a:pt x="4067658" y="2965693"/>
                  </a:lnTo>
                  <a:lnTo>
                    <a:pt x="0" y="2965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44494" y="819150"/>
            <a:ext cx="7633906" cy="8648700"/>
            <a:chOff x="0" y="0"/>
            <a:chExt cx="996079" cy="11284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6079" cy="1128490"/>
            </a:xfrm>
            <a:custGeom>
              <a:avLst/>
              <a:gdLst/>
              <a:ahLst/>
              <a:cxnLst/>
              <a:rect r="r" b="b" t="t" l="l"/>
              <a:pathLst>
                <a:path h="1128490" w="996079">
                  <a:moveTo>
                    <a:pt x="141981" y="0"/>
                  </a:moveTo>
                  <a:lnTo>
                    <a:pt x="854098" y="0"/>
                  </a:lnTo>
                  <a:cubicBezTo>
                    <a:pt x="932512" y="0"/>
                    <a:pt x="996079" y="63567"/>
                    <a:pt x="996079" y="141981"/>
                  </a:cubicBezTo>
                  <a:lnTo>
                    <a:pt x="996079" y="986509"/>
                  </a:lnTo>
                  <a:cubicBezTo>
                    <a:pt x="996079" y="1024165"/>
                    <a:pt x="981120" y="1060278"/>
                    <a:pt x="954493" y="1086905"/>
                  </a:cubicBezTo>
                  <a:cubicBezTo>
                    <a:pt x="927867" y="1113531"/>
                    <a:pt x="891754" y="1128490"/>
                    <a:pt x="854098" y="1128490"/>
                  </a:cubicBezTo>
                  <a:lnTo>
                    <a:pt x="141981" y="1128490"/>
                  </a:lnTo>
                  <a:cubicBezTo>
                    <a:pt x="104325" y="1128490"/>
                    <a:pt x="68212" y="1113531"/>
                    <a:pt x="41585" y="1086905"/>
                  </a:cubicBezTo>
                  <a:cubicBezTo>
                    <a:pt x="14959" y="1060278"/>
                    <a:pt x="0" y="1024165"/>
                    <a:pt x="0" y="986509"/>
                  </a:cubicBezTo>
                  <a:lnTo>
                    <a:pt x="0" y="141981"/>
                  </a:lnTo>
                  <a:cubicBezTo>
                    <a:pt x="0" y="104325"/>
                    <a:pt x="14959" y="68212"/>
                    <a:pt x="41585" y="41585"/>
                  </a:cubicBezTo>
                  <a:cubicBezTo>
                    <a:pt x="68212" y="14959"/>
                    <a:pt x="104325" y="0"/>
                    <a:pt x="141981" y="0"/>
                  </a:cubicBezTo>
                  <a:close/>
                </a:path>
              </a:pathLst>
            </a:custGeom>
            <a:blipFill>
              <a:blip r:embed="rId6"/>
              <a:stretch>
                <a:fillRect l="-17814" t="0" r="-71007" b="0"/>
              </a:stretch>
            </a:blipFill>
          </p:spPr>
        </p:sp>
      </p:grpSp>
      <p:sp>
        <p:nvSpPr>
          <p:cNvPr name="AutoShape 15" id="15"/>
          <p:cNvSpPr/>
          <p:nvPr/>
        </p:nvSpPr>
        <p:spPr>
          <a:xfrm flipV="true">
            <a:off x="1028700" y="3447392"/>
            <a:ext cx="5783964" cy="0"/>
          </a:xfrm>
          <a:prstGeom prst="line">
            <a:avLst/>
          </a:prstGeom>
          <a:ln cap="flat" w="28575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28700" y="4213445"/>
            <a:ext cx="5783964" cy="0"/>
          </a:xfrm>
          <a:prstGeom prst="line">
            <a:avLst/>
          </a:prstGeom>
          <a:ln cap="flat" w="28575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28700" y="4979498"/>
            <a:ext cx="5783964" cy="0"/>
          </a:xfrm>
          <a:prstGeom prst="line">
            <a:avLst/>
          </a:prstGeom>
          <a:ln cap="flat" w="28575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5745551"/>
            <a:ext cx="5783964" cy="0"/>
          </a:xfrm>
          <a:prstGeom prst="line">
            <a:avLst/>
          </a:prstGeom>
          <a:ln cap="flat" w="28575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028700" y="6511604"/>
            <a:ext cx="5783964" cy="0"/>
          </a:xfrm>
          <a:prstGeom prst="line">
            <a:avLst/>
          </a:prstGeom>
          <a:ln cap="flat" w="28575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028700" y="7277657"/>
            <a:ext cx="5783964" cy="0"/>
          </a:xfrm>
          <a:prstGeom prst="line">
            <a:avLst/>
          </a:prstGeom>
          <a:ln cap="flat" w="28575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028700" y="8043710"/>
            <a:ext cx="5783964" cy="0"/>
          </a:xfrm>
          <a:prstGeom prst="line">
            <a:avLst/>
          </a:prstGeom>
          <a:ln cap="flat" w="28575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2958223"/>
            <a:ext cx="5184087" cy="42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sz="2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Introdução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728738"/>
            <a:ext cx="5184087" cy="42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sz="2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Os Dados: MIQR-CC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4494791"/>
            <a:ext cx="5184087" cy="42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sz="2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 Metodologia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5260844"/>
            <a:ext cx="5184087" cy="42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sz="2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Treinamento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6026897"/>
            <a:ext cx="5184087" cy="42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sz="2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Melhores Resultados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6792950"/>
            <a:ext cx="5184087" cy="42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sz="2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Experimentos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7559003"/>
            <a:ext cx="5184087" cy="42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sz="2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Conclusões e Trabalhos Futuros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30" id="30"/>
          <p:cNvSpPr/>
          <p:nvPr/>
        </p:nvSpPr>
        <p:spPr>
          <a:xfrm>
            <a:off x="1028700" y="8814860"/>
            <a:ext cx="5783964" cy="0"/>
          </a:xfrm>
          <a:prstGeom prst="line">
            <a:avLst/>
          </a:prstGeom>
          <a:ln cap="flat" w="28575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028700" y="8330152"/>
            <a:ext cx="5184087" cy="429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  <a:spcBef>
                <a:spcPct val="0"/>
              </a:spcBef>
            </a:pPr>
            <a:r>
              <a:rPr lang="en-US" sz="2399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Referências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27674" y="483726"/>
            <a:ext cx="4249179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SUMÁRIO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85140" y="-5487013"/>
            <a:ext cx="10707325" cy="1070732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605552" y="7757930"/>
            <a:ext cx="3050744" cy="2224270"/>
          </a:xfrm>
          <a:custGeom>
            <a:avLst/>
            <a:gdLst/>
            <a:ahLst/>
            <a:cxnLst/>
            <a:rect r="r" b="b" t="t" l="l"/>
            <a:pathLst>
              <a:path h="2224270" w="3050744">
                <a:moveTo>
                  <a:pt x="0" y="0"/>
                </a:moveTo>
                <a:lnTo>
                  <a:pt x="3050744" y="0"/>
                </a:lnTo>
                <a:lnTo>
                  <a:pt x="3050744" y="2224270"/>
                </a:lnTo>
                <a:lnTo>
                  <a:pt x="0" y="2224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68104" y="7757930"/>
            <a:ext cx="3050744" cy="2224270"/>
          </a:xfrm>
          <a:custGeom>
            <a:avLst/>
            <a:gdLst/>
            <a:ahLst/>
            <a:cxnLst/>
            <a:rect r="r" b="b" t="t" l="l"/>
            <a:pathLst>
              <a:path h="2224270" w="3050744">
                <a:moveTo>
                  <a:pt x="0" y="0"/>
                </a:moveTo>
                <a:lnTo>
                  <a:pt x="3050744" y="0"/>
                </a:lnTo>
                <a:lnTo>
                  <a:pt x="3050744" y="2224270"/>
                </a:lnTo>
                <a:lnTo>
                  <a:pt x="0" y="2224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1028700" y="2613565"/>
            <a:ext cx="951661" cy="0"/>
          </a:xfrm>
          <a:prstGeom prst="line">
            <a:avLst/>
          </a:prstGeom>
          <a:ln cap="flat" w="95250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28700" y="2813590"/>
            <a:ext cx="5329286" cy="46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796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O que é CPRE?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612872"/>
            <a:ext cx="5927160" cy="3337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CPRE ou Colangiopancreatografia Retrógrada Endoscópica é um exame intervencionista do sistema digestivo focado na vesícula biliar e dutos pancreáticos.</a:t>
            </a:r>
          </a:p>
          <a:p>
            <a:pPr algn="just">
              <a:lnSpc>
                <a:spcPts val="2952"/>
              </a:lnSpc>
            </a:pP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 exame combina tecnologias de endoscopia e fluoroscopia (raio-x em tempo real) para avaliar a presença de pedras, obstruções, pancreatite e alguns tipos de câncer.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27674" y="483726"/>
            <a:ext cx="4249179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INTRODUÇÃO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549689" y="1275354"/>
            <a:ext cx="9017049" cy="7889918"/>
          </a:xfrm>
          <a:custGeom>
            <a:avLst/>
            <a:gdLst/>
            <a:ahLst/>
            <a:cxnLst/>
            <a:rect r="r" b="b" t="t" l="l"/>
            <a:pathLst>
              <a:path h="7889918" w="9017049">
                <a:moveTo>
                  <a:pt x="0" y="0"/>
                </a:moveTo>
                <a:lnTo>
                  <a:pt x="9017049" y="0"/>
                </a:lnTo>
                <a:lnTo>
                  <a:pt x="9017049" y="7889918"/>
                </a:lnTo>
                <a:lnTo>
                  <a:pt x="0" y="7889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85140" y="-5487013"/>
            <a:ext cx="10707325" cy="1070732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605552" y="7757930"/>
            <a:ext cx="3050744" cy="2224270"/>
          </a:xfrm>
          <a:custGeom>
            <a:avLst/>
            <a:gdLst/>
            <a:ahLst/>
            <a:cxnLst/>
            <a:rect r="r" b="b" t="t" l="l"/>
            <a:pathLst>
              <a:path h="2224270" w="3050744">
                <a:moveTo>
                  <a:pt x="0" y="0"/>
                </a:moveTo>
                <a:lnTo>
                  <a:pt x="3050744" y="0"/>
                </a:lnTo>
                <a:lnTo>
                  <a:pt x="3050744" y="2224270"/>
                </a:lnTo>
                <a:lnTo>
                  <a:pt x="0" y="2224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68104" y="7757930"/>
            <a:ext cx="3050744" cy="2224270"/>
          </a:xfrm>
          <a:custGeom>
            <a:avLst/>
            <a:gdLst/>
            <a:ahLst/>
            <a:cxnLst/>
            <a:rect r="r" b="b" t="t" l="l"/>
            <a:pathLst>
              <a:path h="2224270" w="3050744">
                <a:moveTo>
                  <a:pt x="0" y="0"/>
                </a:moveTo>
                <a:lnTo>
                  <a:pt x="3050744" y="0"/>
                </a:lnTo>
                <a:lnTo>
                  <a:pt x="3050744" y="2224270"/>
                </a:lnTo>
                <a:lnTo>
                  <a:pt x="0" y="2224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27674" y="483726"/>
            <a:ext cx="4249179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INTRODUÇÃO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168381" y="1042425"/>
            <a:ext cx="8090919" cy="8215875"/>
          </a:xfrm>
          <a:custGeom>
            <a:avLst/>
            <a:gdLst/>
            <a:ahLst/>
            <a:cxnLst/>
            <a:rect r="r" b="b" t="t" l="l"/>
            <a:pathLst>
              <a:path h="8215875" w="8090919">
                <a:moveTo>
                  <a:pt x="0" y="0"/>
                </a:moveTo>
                <a:lnTo>
                  <a:pt x="8090919" y="0"/>
                </a:lnTo>
                <a:lnTo>
                  <a:pt x="8090919" y="8215875"/>
                </a:lnTo>
                <a:lnTo>
                  <a:pt x="0" y="821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028700" y="2613565"/>
            <a:ext cx="951661" cy="0"/>
          </a:xfrm>
          <a:prstGeom prst="line">
            <a:avLst/>
          </a:prstGeom>
          <a:ln cap="flat" w="95250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2813590"/>
            <a:ext cx="5329286" cy="46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796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O Projeto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612872"/>
            <a:ext cx="5927160" cy="5566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 objetivo deste projeto é desenvolver modelos capazer de classificar automaticamente imagens de CPRE nas seguintes categorias: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Biliary_Leaks (Bile Leaks, Fugas de bílis)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Lithiasis (Biliary lithiasis, Stones, Cálculos/Pedras)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Stricture (Strictures, Estenoses/Aperto dos ductos)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Normal (Achados normais)</a:t>
            </a:r>
          </a:p>
          <a:p>
            <a:pPr algn="just">
              <a:lnSpc>
                <a:spcPts val="2952"/>
              </a:lnSpc>
            </a:pP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Para isso propôs-se a utilização do dataset MIQR-CC que será apresentado a seguir. Com objetivo secundário de superar a baseline do artigo original relacionado a esse dataset (F1-Score = 0.738).</a:t>
            </a:r>
          </a:p>
          <a:p>
            <a:pPr algn="just">
              <a:lnSpc>
                <a:spcPts val="295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976098" y="-138135"/>
            <a:ext cx="12125189" cy="10172993"/>
            <a:chOff x="0" y="0"/>
            <a:chExt cx="698191" cy="58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191" cy="585780"/>
            </a:xfrm>
            <a:custGeom>
              <a:avLst/>
              <a:gdLst/>
              <a:ahLst/>
              <a:cxnLst/>
              <a:rect r="r" b="b" t="t" l="l"/>
              <a:pathLst>
                <a:path h="585780" w="698191">
                  <a:moveTo>
                    <a:pt x="232856" y="566711"/>
                  </a:moveTo>
                  <a:cubicBezTo>
                    <a:pt x="268651" y="578225"/>
                    <a:pt x="309344" y="585780"/>
                    <a:pt x="349284" y="585780"/>
                  </a:cubicBezTo>
                  <a:cubicBezTo>
                    <a:pt x="389224" y="585780"/>
                    <a:pt x="427657" y="579303"/>
                    <a:pt x="463074" y="567789"/>
                  </a:cubicBezTo>
                  <a:cubicBezTo>
                    <a:pt x="463829" y="567430"/>
                    <a:pt x="464582" y="567430"/>
                    <a:pt x="465335" y="567070"/>
                  </a:cubicBezTo>
                  <a:cubicBezTo>
                    <a:pt x="598342" y="521015"/>
                    <a:pt x="696307" y="399401"/>
                    <a:pt x="698191" y="262321"/>
                  </a:cubicBezTo>
                  <a:lnTo>
                    <a:pt x="698191" y="0"/>
                  </a:lnTo>
                  <a:lnTo>
                    <a:pt x="0" y="0"/>
                  </a:lnTo>
                  <a:lnTo>
                    <a:pt x="0" y="262126"/>
                  </a:lnTo>
                  <a:cubicBezTo>
                    <a:pt x="1884" y="400120"/>
                    <a:pt x="98342" y="521735"/>
                    <a:pt x="232856" y="5667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98191" cy="496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1500" y="2567401"/>
            <a:ext cx="8442500" cy="482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 conjunto de dados inclui todas as imagens fluoroscópicas adquiridas ao longo do procedimento de CPRE, abrangendo imagens pré-canulação usadas para orientação anatómica e planeamento do procedimento, imagens colangiográficas obtidas durante a injeção de contraste e manobras terapêuticas, bem como imagens pós-procedimento que documentam o resultado final da intervenção.</a:t>
            </a:r>
          </a:p>
          <a:p>
            <a:pPr algn="just">
              <a:lnSpc>
                <a:spcPts val="2952"/>
              </a:lnSpc>
            </a:pP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As imagens anotadas incluem categorias clinicamente relevantes: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Biliary lithiasis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Biliary leaks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Benign strictures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Malignant strictures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Normal findings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90775" y="895763"/>
            <a:ext cx="5329286" cy="816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 pré-processamento de imagens do tipo vertical (</a:t>
            </a:r>
            <a:r>
              <a:rPr lang="en-US" sz="1800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V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) é realizado através de um Jupyter Notebook (</a:t>
            </a:r>
            <a:r>
              <a:rPr lang="en-US" sz="1800" u="sng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preprocessing.ipynb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) que utiliza técnicas de processamento de imagem para preparar as imagens para análise e diagnóstico automático.</a:t>
            </a: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 fluxo de trabalho de pré-processamento inclui as seguintes etapas principais: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Detecção de Linhas Verticais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Segmentação da Imagem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Validação dos Segmentos</a:t>
            </a:r>
          </a:p>
          <a:p>
            <a:pPr algn="just">
              <a:lnSpc>
                <a:spcPts val="2952"/>
              </a:lnSpc>
            </a:pP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pré-processamento das imagens classificadas como tipo (</a:t>
            </a:r>
            <a:r>
              <a:rPr lang="en-US" sz="1800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) focou principalmente na anonimização e na manutenção da consistência estrutural do dataset. </a:t>
            </a: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Técnicas de Anonimização: Foram aplicados dois métodos principais: 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Corte Quadrado Central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Máscara Circular</a:t>
            </a:r>
          </a:p>
          <a:p>
            <a:pPr algn="just">
              <a:lnSpc>
                <a:spcPts val="295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27674" y="483726"/>
            <a:ext cx="6008822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Os Dados: MIQR-CC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976098" y="-138135"/>
            <a:ext cx="12125189" cy="10172993"/>
            <a:chOff x="0" y="0"/>
            <a:chExt cx="698191" cy="5857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98191" cy="585780"/>
            </a:xfrm>
            <a:custGeom>
              <a:avLst/>
              <a:gdLst/>
              <a:ahLst/>
              <a:cxnLst/>
              <a:rect r="r" b="b" t="t" l="l"/>
              <a:pathLst>
                <a:path h="585780" w="698191">
                  <a:moveTo>
                    <a:pt x="232856" y="566711"/>
                  </a:moveTo>
                  <a:cubicBezTo>
                    <a:pt x="268651" y="578225"/>
                    <a:pt x="309344" y="585780"/>
                    <a:pt x="349284" y="585780"/>
                  </a:cubicBezTo>
                  <a:cubicBezTo>
                    <a:pt x="389224" y="585780"/>
                    <a:pt x="427657" y="579303"/>
                    <a:pt x="463074" y="567789"/>
                  </a:cubicBezTo>
                  <a:cubicBezTo>
                    <a:pt x="463829" y="567430"/>
                    <a:pt x="464582" y="567430"/>
                    <a:pt x="465335" y="567070"/>
                  </a:cubicBezTo>
                  <a:cubicBezTo>
                    <a:pt x="598342" y="521015"/>
                    <a:pt x="696307" y="399401"/>
                    <a:pt x="698191" y="262321"/>
                  </a:cubicBezTo>
                  <a:lnTo>
                    <a:pt x="698191" y="0"/>
                  </a:lnTo>
                  <a:lnTo>
                    <a:pt x="0" y="0"/>
                  </a:lnTo>
                  <a:lnTo>
                    <a:pt x="0" y="262126"/>
                  </a:lnTo>
                  <a:cubicBezTo>
                    <a:pt x="1884" y="400120"/>
                    <a:pt x="98342" y="521735"/>
                    <a:pt x="232856" y="56671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98191" cy="4968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721296" y="3545746"/>
          <a:ext cx="7315200" cy="5105400"/>
        </p:xfrm>
        <a:graphic>
          <a:graphicData uri="http://schemas.openxmlformats.org/drawingml/2006/table">
            <a:tbl>
              <a:tblPr/>
              <a:tblGrid>
                <a:gridCol w="2018909"/>
                <a:gridCol w="1638691"/>
                <a:gridCol w="1828800"/>
                <a:gridCol w="1828800"/>
              </a:tblGrid>
              <a:tr h="10210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Classe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Treino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Validação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Teste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0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Lithiasis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0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Stricture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0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Normal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10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Biliary_Leaks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846151" y="359901"/>
            <a:ext cx="6622714" cy="370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 notebook (</a:t>
            </a:r>
            <a:r>
              <a:rPr lang="en-US" sz="1800" u="sng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split_dataset.ipynb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) revela que a divisão do dataset implementa uma estratificação a nível de paciente. O código busca estratificar a divisão baseando-se na combinação dominante do diagnóstico e por paciente. Isso é uma técnica de balanceamento fundamental para garantir que a distribuição das class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es seja a mais proporcional possível entre os diferentes splits. Todo o conjunto de imagens de um mesmo paciente é mantido dentro do me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smo subconjunto (treino, validação ou tes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te) evitando data leakage.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27674" y="483726"/>
            <a:ext cx="6008822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Os Dados: MIQR-CC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602834" y="4386959"/>
            <a:ext cx="7109348" cy="5640166"/>
          </a:xfrm>
          <a:custGeom>
            <a:avLst/>
            <a:gdLst/>
            <a:ahLst/>
            <a:cxnLst/>
            <a:rect r="r" b="b" t="t" l="l"/>
            <a:pathLst>
              <a:path h="5640166" w="7109348">
                <a:moveTo>
                  <a:pt x="0" y="0"/>
                </a:moveTo>
                <a:lnTo>
                  <a:pt x="7109348" y="0"/>
                </a:lnTo>
                <a:lnTo>
                  <a:pt x="7109348" y="5640165"/>
                </a:lnTo>
                <a:lnTo>
                  <a:pt x="0" y="56401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21296" y="2166984"/>
            <a:ext cx="6622714" cy="110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 divisão do dataset foi realizada seguindo uma proporção d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 70% para treino, 15% para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validação 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 15% para teste.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33393" y="-2604693"/>
            <a:ext cx="13453061" cy="14820360"/>
            <a:chOff x="0" y="0"/>
            <a:chExt cx="812800" cy="8954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95409"/>
            </a:xfrm>
            <a:custGeom>
              <a:avLst/>
              <a:gdLst/>
              <a:ahLst/>
              <a:cxnLst/>
              <a:rect r="r" b="b" t="t" l="l"/>
              <a:pathLst>
                <a:path h="895409" w="812800">
                  <a:moveTo>
                    <a:pt x="406400" y="0"/>
                  </a:moveTo>
                  <a:cubicBezTo>
                    <a:pt x="181951" y="0"/>
                    <a:pt x="0" y="200444"/>
                    <a:pt x="0" y="447704"/>
                  </a:cubicBezTo>
                  <a:cubicBezTo>
                    <a:pt x="0" y="694965"/>
                    <a:pt x="181951" y="895409"/>
                    <a:pt x="406400" y="895409"/>
                  </a:cubicBezTo>
                  <a:cubicBezTo>
                    <a:pt x="630849" y="895409"/>
                    <a:pt x="812800" y="694965"/>
                    <a:pt x="812800" y="447704"/>
                  </a:cubicBezTo>
                  <a:cubicBezTo>
                    <a:pt x="812800" y="20044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5845"/>
              <a:ext cx="660400" cy="7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1999" y="2841437"/>
            <a:ext cx="6264541" cy="630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Problemas de classificação de imagens são notoriamente complexos devido a grande quantidade de dados necessários para treinar um modelo qu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 atinja patamares aceitáveis de acurácia.</a:t>
            </a:r>
          </a:p>
          <a:p>
            <a:pPr algn="just">
              <a:lnSpc>
                <a:spcPts val="2952"/>
              </a:lnSpc>
            </a:pP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Dois tipos de modelos de aprendizagem profunda se destacam historicamente em problemas relacionados a Classificação de Imagens: Redes Neuronais Convolucionais e Vision Transformers.</a:t>
            </a:r>
          </a:p>
          <a:p>
            <a:pPr algn="just">
              <a:lnSpc>
                <a:spcPts val="2952"/>
              </a:lnSpc>
            </a:pP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Em especial, se destaca o uso do método de Transferência de Aprendizado, que consiste em utilizar os pesos de u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 modelo treinado anteriormente em um dataset muito maior e genérico (mas relacionado) e a partir desses pesos, treinar o modelo para um problema mais especializado.</a:t>
            </a:r>
          </a:p>
          <a:p>
            <a:pPr algn="just">
              <a:lnSpc>
                <a:spcPts val="295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027674" y="483726"/>
            <a:ext cx="4442546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09433" y="604341"/>
            <a:ext cx="7659700" cy="1480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Para o projeto atual, demos prioridade aos modelos pré-treinados disponibilizados no TorchVision (pré-treinados no dataset ImageNet 1K) e no MONAI (modelos do TorchVision treinados em datasets ligados a medicina).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258794" y="2201864"/>
          <a:ext cx="7510340" cy="7426174"/>
        </p:xfrm>
        <a:graphic>
          <a:graphicData uri="http://schemas.openxmlformats.org/drawingml/2006/table">
            <a:tbl>
              <a:tblPr/>
              <a:tblGrid>
                <a:gridCol w="2980517"/>
                <a:gridCol w="1621687"/>
                <a:gridCol w="1460508"/>
                <a:gridCol w="1447629"/>
              </a:tblGrid>
              <a:tr h="831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Arquitetura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Acc@1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Acc@5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Params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</a:tr>
              <a:tr h="831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ResNet-50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80.858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95.434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25.6M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5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ResNeXt-50-32x4D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81.198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95.34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25.0M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ResNeXt-101-32x8D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82.834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96.228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88.8M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ConveNeXt-B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84.062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96.87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88.6M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DenseNet-121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74.434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91.972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8.0M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EfficientNet-V2-S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84.228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96.878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21.5M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VGG19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72.376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90.876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143.7M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1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ViT-B-16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85.304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97.65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86.9M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0" id="10"/>
          <p:cNvSpPr/>
          <p:nvPr/>
        </p:nvSpPr>
        <p:spPr>
          <a:xfrm>
            <a:off x="841999" y="1752046"/>
            <a:ext cx="951661" cy="0"/>
          </a:xfrm>
          <a:prstGeom prst="line">
            <a:avLst/>
          </a:prstGeom>
          <a:ln cap="flat" w="95250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41999" y="1952071"/>
            <a:ext cx="5329286" cy="46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796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Transfer Learning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41999" y="1752046"/>
            <a:ext cx="951661" cy="0"/>
          </a:xfrm>
          <a:prstGeom prst="line">
            <a:avLst/>
          </a:prstGeom>
          <a:ln cap="flat" w="95250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637484" y="-2586023"/>
            <a:ext cx="13453061" cy="14820360"/>
            <a:chOff x="0" y="0"/>
            <a:chExt cx="812800" cy="895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95409"/>
            </a:xfrm>
            <a:custGeom>
              <a:avLst/>
              <a:gdLst/>
              <a:ahLst/>
              <a:cxnLst/>
              <a:rect r="r" b="b" t="t" l="l"/>
              <a:pathLst>
                <a:path h="895409" w="812800">
                  <a:moveTo>
                    <a:pt x="406400" y="0"/>
                  </a:moveTo>
                  <a:cubicBezTo>
                    <a:pt x="181951" y="0"/>
                    <a:pt x="0" y="200444"/>
                    <a:pt x="0" y="447704"/>
                  </a:cubicBezTo>
                  <a:cubicBezTo>
                    <a:pt x="0" y="694965"/>
                    <a:pt x="181951" y="895409"/>
                    <a:pt x="406400" y="895409"/>
                  </a:cubicBezTo>
                  <a:cubicBezTo>
                    <a:pt x="630849" y="895409"/>
                    <a:pt x="812800" y="694965"/>
                    <a:pt x="812800" y="447704"/>
                  </a:cubicBezTo>
                  <a:cubicBezTo>
                    <a:pt x="812800" y="20044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5845"/>
              <a:ext cx="660400" cy="7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41999" y="1952071"/>
            <a:ext cx="5329286" cy="46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796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Tratamentos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1999" y="2841437"/>
            <a:ext cx="7608784" cy="668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Para utilização das imagens nos modelos  e também lidar com o desbalanceamento entre as classes, foram realizados alguns tratamentos: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Resizing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Crop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Rotação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Zoom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Ajuste do Contraste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Adição de Ruído Gaussiano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Adição de Desfoque Gaussiano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Normalização pela média e desvio padrão da própria imagem</a:t>
            </a: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Os valores exatos para cada transformação depende do modelos em que a imagem será utilizada</a:t>
            </a:r>
          </a:p>
          <a:p>
            <a:pPr algn="just">
              <a:lnSpc>
                <a:spcPts val="2952"/>
              </a:lnSpc>
            </a:pP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Além do Data Augmentation, para lidar com o desbalanceamento entre as classes, foram usadas funções de Loss (FocalLoss e CrossEntropy) e Otimizadores (Adam e AdamW) específicos para situações de desbalanceamento.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27674" y="483726"/>
            <a:ext cx="4442546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METODOLOGIA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450964" y="1240214"/>
            <a:ext cx="7049786" cy="7167888"/>
          </a:xfrm>
          <a:custGeom>
            <a:avLst/>
            <a:gdLst/>
            <a:ahLst/>
            <a:cxnLst/>
            <a:rect r="r" b="b" t="t" l="l"/>
            <a:pathLst>
              <a:path h="7167888" w="7049786">
                <a:moveTo>
                  <a:pt x="0" y="0"/>
                </a:moveTo>
                <a:lnTo>
                  <a:pt x="7049786" y="0"/>
                </a:lnTo>
                <a:lnTo>
                  <a:pt x="7049786" y="7167888"/>
                </a:lnTo>
                <a:lnTo>
                  <a:pt x="0" y="716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27674" y="483726"/>
            <a:ext cx="8580607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TREINAMENTO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1575320"/>
          <a:ext cx="16042360" cy="8142467"/>
        </p:xfrm>
        <a:graphic>
          <a:graphicData uri="http://schemas.openxmlformats.org/drawingml/2006/table">
            <a:tbl>
              <a:tblPr/>
              <a:tblGrid>
                <a:gridCol w="3208472"/>
                <a:gridCol w="3208472"/>
                <a:gridCol w="3208472"/>
                <a:gridCol w="3208472"/>
                <a:gridCol w="3208472"/>
              </a:tblGrid>
              <a:tr h="814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Arquitetura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Épocas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F1-score (Teste)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F1-score (Validação)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Learning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</a:tr>
              <a:tr h="814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EfficientNet-B7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0.7618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0.4796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10-5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ResNet-50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0.7453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0.7034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3e-4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EfficientNet-V2-S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</a:t>
                      </a:r>
                      <a:r>
                        <a:rPr lang="en-US" b="true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.7268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</a:t>
                      </a:r>
                      <a:r>
                        <a:rPr lang="en-US" b="true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.5726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true" sz="1899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10-4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ViT-B-16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.6339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.5097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10-5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ResNeXt-101-32x8D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0.5559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0.5616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10-4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ResNeXt-50-32x4D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0.5438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0.6124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10-4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ConveNeXt-B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0.469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0.6186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10-4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DenseNet-121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.4641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0.5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10-5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2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VGG19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18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0.2513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</a:t>
                      </a: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10-4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44189" y="5334200"/>
            <a:ext cx="7830221" cy="7848199"/>
            <a:chOff x="0" y="0"/>
            <a:chExt cx="893358" cy="895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3358" cy="895409"/>
            </a:xfrm>
            <a:custGeom>
              <a:avLst/>
              <a:gdLst/>
              <a:ahLst/>
              <a:cxnLst/>
              <a:rect r="r" b="b" t="t" l="l"/>
              <a:pathLst>
                <a:path h="895409" w="893358">
                  <a:moveTo>
                    <a:pt x="446679" y="0"/>
                  </a:moveTo>
                  <a:cubicBezTo>
                    <a:pt x="199985" y="0"/>
                    <a:pt x="0" y="200444"/>
                    <a:pt x="0" y="447704"/>
                  </a:cubicBezTo>
                  <a:cubicBezTo>
                    <a:pt x="0" y="694965"/>
                    <a:pt x="199985" y="895409"/>
                    <a:pt x="446679" y="895409"/>
                  </a:cubicBezTo>
                  <a:cubicBezTo>
                    <a:pt x="693373" y="895409"/>
                    <a:pt x="893358" y="694965"/>
                    <a:pt x="893358" y="447704"/>
                  </a:cubicBezTo>
                  <a:cubicBezTo>
                    <a:pt x="893358" y="200444"/>
                    <a:pt x="693373" y="0"/>
                    <a:pt x="446679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83752" y="45845"/>
              <a:ext cx="725853" cy="7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71085" y="-1711795"/>
            <a:ext cx="3887052" cy="4282112"/>
            <a:chOff x="0" y="0"/>
            <a:chExt cx="812800" cy="8954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95409"/>
            </a:xfrm>
            <a:custGeom>
              <a:avLst/>
              <a:gdLst/>
              <a:ahLst/>
              <a:cxnLst/>
              <a:rect r="r" b="b" t="t" l="l"/>
              <a:pathLst>
                <a:path h="895409" w="812800">
                  <a:moveTo>
                    <a:pt x="406400" y="0"/>
                  </a:moveTo>
                  <a:cubicBezTo>
                    <a:pt x="181951" y="0"/>
                    <a:pt x="0" y="200444"/>
                    <a:pt x="0" y="447704"/>
                  </a:cubicBezTo>
                  <a:cubicBezTo>
                    <a:pt x="0" y="694965"/>
                    <a:pt x="181951" y="895409"/>
                    <a:pt x="406400" y="895409"/>
                  </a:cubicBezTo>
                  <a:cubicBezTo>
                    <a:pt x="630849" y="895409"/>
                    <a:pt x="812800" y="694965"/>
                    <a:pt x="812800" y="447704"/>
                  </a:cubicBezTo>
                  <a:cubicBezTo>
                    <a:pt x="812800" y="20044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5845"/>
              <a:ext cx="660400" cy="7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988691" y="2263375"/>
            <a:ext cx="951661" cy="0"/>
          </a:xfrm>
          <a:prstGeom prst="line">
            <a:avLst/>
          </a:prstGeom>
          <a:ln cap="flat" w="95250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734669" y="2501500"/>
            <a:ext cx="10524631" cy="5992988"/>
          </a:xfrm>
          <a:custGeom>
            <a:avLst/>
            <a:gdLst/>
            <a:ahLst/>
            <a:cxnLst/>
            <a:rect r="r" b="b" t="t" l="l"/>
            <a:pathLst>
              <a:path h="5992988" w="10524631">
                <a:moveTo>
                  <a:pt x="0" y="0"/>
                </a:moveTo>
                <a:lnTo>
                  <a:pt x="10524631" y="0"/>
                </a:lnTo>
                <a:lnTo>
                  <a:pt x="10524631" y="5992988"/>
                </a:lnTo>
                <a:lnTo>
                  <a:pt x="0" y="5992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27674" y="483726"/>
            <a:ext cx="8580607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MELHORES RESULTADOS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383894"/>
            <a:ext cx="5058572" cy="519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Após o fine-tuning, o modelo demonstrou capacidade de aprendizagem de padrões específicos de exames de CPRE, destacando-se na identificação das classes Normal e Lithiasis. Nota-se, contudo, uma confusão persistente entre as classes Stricture e Lithiasis, possivelmente decorrente da semelhança visual destas patologias. Adicionalmente, o desequilíbrio das classes permanece um desafio, com a classe Biliary_Leaks apresentando uma representatividade reduzida no dataset, o que limita a generalização do modelo para esta categoria específica.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8691" y="2463400"/>
            <a:ext cx="5329286" cy="46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796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EfficientNet-B7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44189" y="5334200"/>
            <a:ext cx="7830221" cy="7848199"/>
            <a:chOff x="0" y="0"/>
            <a:chExt cx="893358" cy="895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3358" cy="895409"/>
            </a:xfrm>
            <a:custGeom>
              <a:avLst/>
              <a:gdLst/>
              <a:ahLst/>
              <a:cxnLst/>
              <a:rect r="r" b="b" t="t" l="l"/>
              <a:pathLst>
                <a:path h="895409" w="893358">
                  <a:moveTo>
                    <a:pt x="446679" y="0"/>
                  </a:moveTo>
                  <a:cubicBezTo>
                    <a:pt x="199985" y="0"/>
                    <a:pt x="0" y="200444"/>
                    <a:pt x="0" y="447704"/>
                  </a:cubicBezTo>
                  <a:cubicBezTo>
                    <a:pt x="0" y="694965"/>
                    <a:pt x="199985" y="895409"/>
                    <a:pt x="446679" y="895409"/>
                  </a:cubicBezTo>
                  <a:cubicBezTo>
                    <a:pt x="693373" y="895409"/>
                    <a:pt x="893358" y="694965"/>
                    <a:pt x="893358" y="447704"/>
                  </a:cubicBezTo>
                  <a:cubicBezTo>
                    <a:pt x="893358" y="200444"/>
                    <a:pt x="693373" y="0"/>
                    <a:pt x="446679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83752" y="45845"/>
              <a:ext cx="725853" cy="7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71085" y="-1711795"/>
            <a:ext cx="3887052" cy="4282112"/>
            <a:chOff x="0" y="0"/>
            <a:chExt cx="812800" cy="8954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95409"/>
            </a:xfrm>
            <a:custGeom>
              <a:avLst/>
              <a:gdLst/>
              <a:ahLst/>
              <a:cxnLst/>
              <a:rect r="r" b="b" t="t" l="l"/>
              <a:pathLst>
                <a:path h="895409" w="812800">
                  <a:moveTo>
                    <a:pt x="406400" y="0"/>
                  </a:moveTo>
                  <a:cubicBezTo>
                    <a:pt x="181951" y="0"/>
                    <a:pt x="0" y="200444"/>
                    <a:pt x="0" y="447704"/>
                  </a:cubicBezTo>
                  <a:cubicBezTo>
                    <a:pt x="0" y="694965"/>
                    <a:pt x="181951" y="895409"/>
                    <a:pt x="406400" y="895409"/>
                  </a:cubicBezTo>
                  <a:cubicBezTo>
                    <a:pt x="630849" y="895409"/>
                    <a:pt x="812800" y="694965"/>
                    <a:pt x="812800" y="447704"/>
                  </a:cubicBezTo>
                  <a:cubicBezTo>
                    <a:pt x="812800" y="20044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5845"/>
              <a:ext cx="660400" cy="7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769872" y="2014873"/>
            <a:ext cx="10176136" cy="7123295"/>
          </a:xfrm>
          <a:custGeom>
            <a:avLst/>
            <a:gdLst/>
            <a:ahLst/>
            <a:cxnLst/>
            <a:rect r="r" b="b" t="t" l="l"/>
            <a:pathLst>
              <a:path h="7123295" w="10176136">
                <a:moveTo>
                  <a:pt x="0" y="0"/>
                </a:moveTo>
                <a:lnTo>
                  <a:pt x="10176135" y="0"/>
                </a:lnTo>
                <a:lnTo>
                  <a:pt x="10176135" y="7123295"/>
                </a:lnTo>
                <a:lnTo>
                  <a:pt x="0" y="71232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988691" y="2263375"/>
            <a:ext cx="951661" cy="0"/>
          </a:xfrm>
          <a:prstGeom prst="line">
            <a:avLst/>
          </a:prstGeom>
          <a:ln cap="flat" w="95250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027674" y="483726"/>
            <a:ext cx="8580607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MELHORES RESULTADOS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383894"/>
            <a:ext cx="5058572" cy="2966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Apesar do bons resultados no F1-score, na matriz de confusão, vemos que doenças graves (Biliary Leaks, Stricture) foram classificadas, em grande quantidade, como falsos negativos. Isto significa que este modelo não é suficientemente num contexto médico.</a:t>
            </a:r>
          </a:p>
          <a:p>
            <a:pPr algn="just">
              <a:lnSpc>
                <a:spcPts val="2952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88691" y="2463400"/>
            <a:ext cx="5329286" cy="46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796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ResNet-50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44189" y="5334200"/>
            <a:ext cx="7830221" cy="7848199"/>
            <a:chOff x="0" y="0"/>
            <a:chExt cx="893358" cy="895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3358" cy="895409"/>
            </a:xfrm>
            <a:custGeom>
              <a:avLst/>
              <a:gdLst/>
              <a:ahLst/>
              <a:cxnLst/>
              <a:rect r="r" b="b" t="t" l="l"/>
              <a:pathLst>
                <a:path h="895409" w="893358">
                  <a:moveTo>
                    <a:pt x="446679" y="0"/>
                  </a:moveTo>
                  <a:cubicBezTo>
                    <a:pt x="199985" y="0"/>
                    <a:pt x="0" y="200444"/>
                    <a:pt x="0" y="447704"/>
                  </a:cubicBezTo>
                  <a:cubicBezTo>
                    <a:pt x="0" y="694965"/>
                    <a:pt x="199985" y="895409"/>
                    <a:pt x="446679" y="895409"/>
                  </a:cubicBezTo>
                  <a:cubicBezTo>
                    <a:pt x="693373" y="895409"/>
                    <a:pt x="893358" y="694965"/>
                    <a:pt x="893358" y="447704"/>
                  </a:cubicBezTo>
                  <a:cubicBezTo>
                    <a:pt x="893358" y="200444"/>
                    <a:pt x="693373" y="0"/>
                    <a:pt x="446679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83752" y="45845"/>
              <a:ext cx="725853" cy="7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71085" y="-1711795"/>
            <a:ext cx="3887052" cy="4282112"/>
            <a:chOff x="0" y="0"/>
            <a:chExt cx="812800" cy="8954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95409"/>
            </a:xfrm>
            <a:custGeom>
              <a:avLst/>
              <a:gdLst/>
              <a:ahLst/>
              <a:cxnLst/>
              <a:rect r="r" b="b" t="t" l="l"/>
              <a:pathLst>
                <a:path h="895409" w="812800">
                  <a:moveTo>
                    <a:pt x="406400" y="0"/>
                  </a:moveTo>
                  <a:cubicBezTo>
                    <a:pt x="181951" y="0"/>
                    <a:pt x="0" y="200444"/>
                    <a:pt x="0" y="447704"/>
                  </a:cubicBezTo>
                  <a:cubicBezTo>
                    <a:pt x="0" y="694965"/>
                    <a:pt x="181951" y="895409"/>
                    <a:pt x="406400" y="895409"/>
                  </a:cubicBezTo>
                  <a:cubicBezTo>
                    <a:pt x="630849" y="895409"/>
                    <a:pt x="812800" y="694965"/>
                    <a:pt x="812800" y="447704"/>
                  </a:cubicBezTo>
                  <a:cubicBezTo>
                    <a:pt x="812800" y="20044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5845"/>
              <a:ext cx="660400" cy="7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9256884" y="1056195"/>
            <a:ext cx="8571014" cy="8571014"/>
          </a:xfrm>
          <a:custGeom>
            <a:avLst/>
            <a:gdLst/>
            <a:ahLst/>
            <a:cxnLst/>
            <a:rect r="r" b="b" t="t" l="l"/>
            <a:pathLst>
              <a:path h="8571014" w="8571014">
                <a:moveTo>
                  <a:pt x="0" y="0"/>
                </a:moveTo>
                <a:lnTo>
                  <a:pt x="8571014" y="0"/>
                </a:lnTo>
                <a:lnTo>
                  <a:pt x="8571014" y="8571014"/>
                </a:lnTo>
                <a:lnTo>
                  <a:pt x="0" y="8571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27674" y="483726"/>
            <a:ext cx="8580607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MELHORES RESULTADOS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988691" y="2263375"/>
            <a:ext cx="951661" cy="0"/>
          </a:xfrm>
          <a:prstGeom prst="line">
            <a:avLst/>
          </a:prstGeom>
          <a:ln cap="flat" w="95250">
            <a:solidFill>
              <a:srgbClr val="AAD1D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28700" y="3383894"/>
            <a:ext cx="5058572" cy="110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Além do problema para classificação de doenças graves como na ResNet-50, algo comum em todos os modelos foi o overfit.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8691" y="2463400"/>
            <a:ext cx="5329286" cy="46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796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EfficientNet-V2-S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75987" y="5143500"/>
            <a:ext cx="7386451" cy="4274908"/>
          </a:xfrm>
          <a:custGeom>
            <a:avLst/>
            <a:gdLst/>
            <a:ahLst/>
            <a:cxnLst/>
            <a:rect r="r" b="b" t="t" l="l"/>
            <a:pathLst>
              <a:path h="4274908" w="7386451">
                <a:moveTo>
                  <a:pt x="0" y="0"/>
                </a:moveTo>
                <a:lnTo>
                  <a:pt x="7386451" y="0"/>
                </a:lnTo>
                <a:lnTo>
                  <a:pt x="7386451" y="4274908"/>
                </a:lnTo>
                <a:lnTo>
                  <a:pt x="0" y="4274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44189" y="5334200"/>
            <a:ext cx="7830221" cy="7848199"/>
            <a:chOff x="0" y="0"/>
            <a:chExt cx="893358" cy="895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3358" cy="895409"/>
            </a:xfrm>
            <a:custGeom>
              <a:avLst/>
              <a:gdLst/>
              <a:ahLst/>
              <a:cxnLst/>
              <a:rect r="r" b="b" t="t" l="l"/>
              <a:pathLst>
                <a:path h="895409" w="893358">
                  <a:moveTo>
                    <a:pt x="446679" y="0"/>
                  </a:moveTo>
                  <a:cubicBezTo>
                    <a:pt x="199985" y="0"/>
                    <a:pt x="0" y="200444"/>
                    <a:pt x="0" y="447704"/>
                  </a:cubicBezTo>
                  <a:cubicBezTo>
                    <a:pt x="0" y="694965"/>
                    <a:pt x="199985" y="895409"/>
                    <a:pt x="446679" y="895409"/>
                  </a:cubicBezTo>
                  <a:cubicBezTo>
                    <a:pt x="693373" y="895409"/>
                    <a:pt x="893358" y="694965"/>
                    <a:pt x="893358" y="447704"/>
                  </a:cubicBezTo>
                  <a:cubicBezTo>
                    <a:pt x="893358" y="200444"/>
                    <a:pt x="693373" y="0"/>
                    <a:pt x="446679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83752" y="45845"/>
              <a:ext cx="725853" cy="7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871085" y="-1711795"/>
            <a:ext cx="3887052" cy="4282112"/>
            <a:chOff x="0" y="0"/>
            <a:chExt cx="812800" cy="8954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95409"/>
            </a:xfrm>
            <a:custGeom>
              <a:avLst/>
              <a:gdLst/>
              <a:ahLst/>
              <a:cxnLst/>
              <a:rect r="r" b="b" t="t" l="l"/>
              <a:pathLst>
                <a:path h="895409" w="812800">
                  <a:moveTo>
                    <a:pt x="406400" y="0"/>
                  </a:moveTo>
                  <a:cubicBezTo>
                    <a:pt x="181951" y="0"/>
                    <a:pt x="0" y="200444"/>
                    <a:pt x="0" y="447704"/>
                  </a:cubicBezTo>
                  <a:cubicBezTo>
                    <a:pt x="0" y="694965"/>
                    <a:pt x="181951" y="895409"/>
                    <a:pt x="406400" y="895409"/>
                  </a:cubicBezTo>
                  <a:cubicBezTo>
                    <a:pt x="630849" y="895409"/>
                    <a:pt x="812800" y="694965"/>
                    <a:pt x="812800" y="447704"/>
                  </a:cubicBezTo>
                  <a:cubicBezTo>
                    <a:pt x="812800" y="20044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45845"/>
              <a:ext cx="660400" cy="7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195302" y="1651831"/>
            <a:ext cx="7897396" cy="8060861"/>
          </a:xfrm>
          <a:custGeom>
            <a:avLst/>
            <a:gdLst/>
            <a:ahLst/>
            <a:cxnLst/>
            <a:rect r="r" b="b" t="t" l="l"/>
            <a:pathLst>
              <a:path h="8060861" w="7897396">
                <a:moveTo>
                  <a:pt x="0" y="0"/>
                </a:moveTo>
                <a:lnTo>
                  <a:pt x="7897396" y="0"/>
                </a:lnTo>
                <a:lnTo>
                  <a:pt x="7897396" y="8060861"/>
                </a:lnTo>
                <a:lnTo>
                  <a:pt x="0" y="8060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27674" y="483726"/>
            <a:ext cx="8580607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MELHORES RESULTADOS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4559" y="-353945"/>
            <a:ext cx="8265078" cy="10994890"/>
            <a:chOff x="0" y="0"/>
            <a:chExt cx="2176811" cy="2895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811" cy="2895773"/>
            </a:xfrm>
            <a:custGeom>
              <a:avLst/>
              <a:gdLst/>
              <a:ahLst/>
              <a:cxnLst/>
              <a:rect r="r" b="b" t="t" l="l"/>
              <a:pathLst>
                <a:path h="2895773" w="2176811">
                  <a:moveTo>
                    <a:pt x="149872" y="0"/>
                  </a:moveTo>
                  <a:lnTo>
                    <a:pt x="2026938" y="0"/>
                  </a:lnTo>
                  <a:cubicBezTo>
                    <a:pt x="2109711" y="0"/>
                    <a:pt x="2176811" y="67100"/>
                    <a:pt x="2176811" y="149872"/>
                  </a:cubicBezTo>
                  <a:lnTo>
                    <a:pt x="2176811" y="2745901"/>
                  </a:lnTo>
                  <a:cubicBezTo>
                    <a:pt x="2176811" y="2828673"/>
                    <a:pt x="2109711" y="2895773"/>
                    <a:pt x="2026938" y="2895773"/>
                  </a:cubicBezTo>
                  <a:lnTo>
                    <a:pt x="149872" y="2895773"/>
                  </a:lnTo>
                  <a:cubicBezTo>
                    <a:pt x="67100" y="2895773"/>
                    <a:pt x="0" y="2828673"/>
                    <a:pt x="0" y="2745901"/>
                  </a:cubicBezTo>
                  <a:lnTo>
                    <a:pt x="0" y="149872"/>
                  </a:lnTo>
                  <a:cubicBezTo>
                    <a:pt x="0" y="67100"/>
                    <a:pt x="67100" y="0"/>
                    <a:pt x="149872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6811" cy="2933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30623" y="7514248"/>
            <a:ext cx="1917321" cy="2035765"/>
          </a:xfrm>
          <a:custGeom>
            <a:avLst/>
            <a:gdLst/>
            <a:ahLst/>
            <a:cxnLst/>
            <a:rect r="r" b="b" t="t" l="l"/>
            <a:pathLst>
              <a:path h="2035765" w="1917321">
                <a:moveTo>
                  <a:pt x="0" y="0"/>
                </a:moveTo>
                <a:lnTo>
                  <a:pt x="1917320" y="0"/>
                </a:lnTo>
                <a:lnTo>
                  <a:pt x="1917320" y="2035766"/>
                </a:lnTo>
                <a:lnTo>
                  <a:pt x="0" y="2035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79539" y="2809418"/>
            <a:ext cx="1563982" cy="2014497"/>
          </a:xfrm>
          <a:custGeom>
            <a:avLst/>
            <a:gdLst/>
            <a:ahLst/>
            <a:cxnLst/>
            <a:rect r="r" b="b" t="t" l="l"/>
            <a:pathLst>
              <a:path h="2014497" w="1563982">
                <a:moveTo>
                  <a:pt x="0" y="0"/>
                </a:moveTo>
                <a:lnTo>
                  <a:pt x="1563982" y="0"/>
                </a:lnTo>
                <a:lnTo>
                  <a:pt x="1563982" y="2014496"/>
                </a:lnTo>
                <a:lnTo>
                  <a:pt x="0" y="20144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4242" y="2789484"/>
            <a:ext cx="1695767" cy="1955287"/>
          </a:xfrm>
          <a:custGeom>
            <a:avLst/>
            <a:gdLst/>
            <a:ahLst/>
            <a:cxnLst/>
            <a:rect r="r" b="b" t="t" l="l"/>
            <a:pathLst>
              <a:path h="1955287" w="1695767">
                <a:moveTo>
                  <a:pt x="0" y="0"/>
                </a:moveTo>
                <a:lnTo>
                  <a:pt x="1695767" y="0"/>
                </a:lnTo>
                <a:lnTo>
                  <a:pt x="1695767" y="1955287"/>
                </a:lnTo>
                <a:lnTo>
                  <a:pt x="0" y="19552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33810" y="3313601"/>
            <a:ext cx="991929" cy="1010298"/>
          </a:xfrm>
          <a:custGeom>
            <a:avLst/>
            <a:gdLst/>
            <a:ahLst/>
            <a:cxnLst/>
            <a:rect r="r" b="b" t="t" l="l"/>
            <a:pathLst>
              <a:path h="1010298" w="991929">
                <a:moveTo>
                  <a:pt x="0" y="0"/>
                </a:moveTo>
                <a:lnTo>
                  <a:pt x="991928" y="0"/>
                </a:lnTo>
                <a:lnTo>
                  <a:pt x="991928" y="1010298"/>
                </a:lnTo>
                <a:lnTo>
                  <a:pt x="0" y="10102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067447" y="5786630"/>
            <a:ext cx="643673" cy="64367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9292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03200" y="-95250"/>
              <a:ext cx="406400" cy="806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52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83945" y="1504843"/>
            <a:ext cx="4849738" cy="98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5"/>
              </a:lnSpc>
            </a:pPr>
            <a:r>
              <a:rPr lang="en-US" b="true" sz="2399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Ajuste das previsões pela moda por paciente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27674" y="483726"/>
            <a:ext cx="8580607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9251" y="6601753"/>
            <a:ext cx="4861046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2B2B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Hard Voting por </a:t>
            </a:r>
            <a:r>
              <a:rPr lang="en-US" b="true" sz="2699" i="true">
                <a:solidFill>
                  <a:srgbClr val="642C31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PatientID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858442" y="192324"/>
            <a:ext cx="5148665" cy="9902351"/>
            <a:chOff x="0" y="0"/>
            <a:chExt cx="6864887" cy="132031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7270" y="7592358"/>
              <a:ext cx="6857616" cy="5610777"/>
            </a:xfrm>
            <a:custGeom>
              <a:avLst/>
              <a:gdLst/>
              <a:ahLst/>
              <a:cxnLst/>
              <a:rect r="r" b="b" t="t" l="l"/>
              <a:pathLst>
                <a:path h="5610777" w="6857616">
                  <a:moveTo>
                    <a:pt x="0" y="0"/>
                  </a:moveTo>
                  <a:lnTo>
                    <a:pt x="6857617" y="0"/>
                  </a:lnTo>
                  <a:lnTo>
                    <a:pt x="6857617" y="5610777"/>
                  </a:lnTo>
                  <a:lnTo>
                    <a:pt x="0" y="5610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270" y="940344"/>
              <a:ext cx="6857616" cy="5535354"/>
            </a:xfrm>
            <a:custGeom>
              <a:avLst/>
              <a:gdLst/>
              <a:ahLst/>
              <a:cxnLst/>
              <a:rect r="r" b="b" t="t" l="l"/>
              <a:pathLst>
                <a:path h="5535354" w="6857616">
                  <a:moveTo>
                    <a:pt x="0" y="0"/>
                  </a:moveTo>
                  <a:lnTo>
                    <a:pt x="6857617" y="0"/>
                  </a:lnTo>
                  <a:lnTo>
                    <a:pt x="6857617" y="5535353"/>
                  </a:lnTo>
                  <a:lnTo>
                    <a:pt x="0" y="553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19" id="19"/>
            <p:cNvGrpSpPr/>
            <p:nvPr/>
          </p:nvGrpSpPr>
          <p:grpSpPr>
            <a:xfrm rot="0">
              <a:off x="2811582" y="6214993"/>
              <a:ext cx="858230" cy="858230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203200" y="-95250"/>
                <a:ext cx="406400" cy="806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52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-57150"/>
              <a:ext cx="6481395" cy="600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 i="true">
                  <a:solidFill>
                    <a:srgbClr val="004AAD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EfficientNet_v2_s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42194" y="187921"/>
            <a:ext cx="5438794" cy="9906754"/>
            <a:chOff x="0" y="0"/>
            <a:chExt cx="7251725" cy="132090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60323" y="7665363"/>
              <a:ext cx="6691402" cy="5451785"/>
            </a:xfrm>
            <a:custGeom>
              <a:avLst/>
              <a:gdLst/>
              <a:ahLst/>
              <a:cxnLst/>
              <a:rect r="r" b="b" t="t" l="l"/>
              <a:pathLst>
                <a:path h="5451785" w="6691402">
                  <a:moveTo>
                    <a:pt x="0" y="0"/>
                  </a:moveTo>
                  <a:lnTo>
                    <a:pt x="6691402" y="0"/>
                  </a:lnTo>
                  <a:lnTo>
                    <a:pt x="6691402" y="5451785"/>
                  </a:lnTo>
                  <a:lnTo>
                    <a:pt x="0" y="5451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97583" y="1003050"/>
              <a:ext cx="6738691" cy="5535354"/>
            </a:xfrm>
            <a:custGeom>
              <a:avLst/>
              <a:gdLst/>
              <a:ahLst/>
              <a:cxnLst/>
              <a:rect r="r" b="b" t="t" l="l"/>
              <a:pathLst>
                <a:path h="5535354" w="6738691">
                  <a:moveTo>
                    <a:pt x="0" y="0"/>
                  </a:moveTo>
                  <a:lnTo>
                    <a:pt x="6738691" y="0"/>
                  </a:lnTo>
                  <a:lnTo>
                    <a:pt x="6738691" y="5535354"/>
                  </a:lnTo>
                  <a:lnTo>
                    <a:pt x="0" y="5535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grpSp>
          <p:nvGrpSpPr>
            <p:cNvPr name="Group 26" id="26"/>
            <p:cNvGrpSpPr/>
            <p:nvPr/>
          </p:nvGrpSpPr>
          <p:grpSpPr>
            <a:xfrm rot="0">
              <a:off x="3437813" y="6109289"/>
              <a:ext cx="858230" cy="858230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609600" y="406400"/>
                    </a:lnTo>
                    <a:lnTo>
                      <a:pt x="812800" y="406400"/>
                    </a:lnTo>
                    <a:lnTo>
                      <a:pt x="406400" y="812800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203200" y="-95250"/>
                <a:ext cx="406400" cy="806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52"/>
                  </a:lnSpc>
                </a:pPr>
              </a:p>
            </p:txBody>
          </p:sp>
        </p:grpSp>
        <p:sp>
          <p:nvSpPr>
            <p:cNvPr name="AutoShape 29" id="29"/>
            <p:cNvSpPr/>
            <p:nvPr/>
          </p:nvSpPr>
          <p:spPr>
            <a:xfrm flipH="true">
              <a:off x="25400" y="0"/>
              <a:ext cx="0" cy="13209006"/>
            </a:xfrm>
            <a:prstGeom prst="line">
              <a:avLst/>
            </a:prstGeom>
            <a:ln cap="flat" w="50800">
              <a:solidFill>
                <a:srgbClr val="004AAD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TextBox 30" id="30"/>
            <p:cNvSpPr txBox="true"/>
            <p:nvPr/>
          </p:nvSpPr>
          <p:spPr>
            <a:xfrm rot="0">
              <a:off x="497583" y="27377"/>
              <a:ext cx="6481395" cy="6007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b="true" sz="2699" i="true">
                  <a:solidFill>
                    <a:srgbClr val="004AAD"/>
                  </a:solidFill>
                  <a:latin typeface="Canva Sans Bold Italics"/>
                  <a:ea typeface="Canva Sans Bold Italics"/>
                  <a:cs typeface="Canva Sans Bold Italics"/>
                  <a:sym typeface="Canva Sans Bold Italics"/>
                </a:rPr>
                <a:t>EfficientNet-B7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27507" y="5010998"/>
            <a:ext cx="242798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 i="true">
                <a:solidFill>
                  <a:srgbClr val="2B2B2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CSV </a:t>
            </a:r>
            <a:r>
              <a:rPr lang="en-US" sz="18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de classificação do </a:t>
            </a:r>
            <a:r>
              <a:rPr lang="en-US" sz="1899" i="true">
                <a:solidFill>
                  <a:srgbClr val="2B2B2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dataset</a:t>
            </a:r>
            <a:r>
              <a:rPr lang="en-US" sz="18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 Teste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102538" y="4898392"/>
            <a:ext cx="242798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metadata das imagens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47943" y="7542166"/>
            <a:ext cx="2122722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CSV com a moda da classificação do </a:t>
            </a:r>
            <a:r>
              <a:rPr lang="en-US" sz="1899" i="true">
                <a:solidFill>
                  <a:srgbClr val="2B2B2B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dataset</a:t>
            </a:r>
            <a:r>
              <a:rPr lang="en-US" sz="18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 Teste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027674" y="9626214"/>
            <a:ext cx="242798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TModa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4559" y="-353945"/>
            <a:ext cx="19827825" cy="6321546"/>
            <a:chOff x="0" y="0"/>
            <a:chExt cx="5222143" cy="16649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2143" cy="1664934"/>
            </a:xfrm>
            <a:custGeom>
              <a:avLst/>
              <a:gdLst/>
              <a:ahLst/>
              <a:cxnLst/>
              <a:rect r="r" b="b" t="t" l="l"/>
              <a:pathLst>
                <a:path h="1664934" w="5222143">
                  <a:moveTo>
                    <a:pt x="62473" y="0"/>
                  </a:moveTo>
                  <a:lnTo>
                    <a:pt x="5159670" y="0"/>
                  </a:lnTo>
                  <a:cubicBezTo>
                    <a:pt x="5194173" y="0"/>
                    <a:pt x="5222143" y="27970"/>
                    <a:pt x="5222143" y="62473"/>
                  </a:cubicBezTo>
                  <a:lnTo>
                    <a:pt x="5222143" y="1602461"/>
                  </a:lnTo>
                  <a:cubicBezTo>
                    <a:pt x="5222143" y="1619030"/>
                    <a:pt x="5215561" y="1634920"/>
                    <a:pt x="5203845" y="1646636"/>
                  </a:cubicBezTo>
                  <a:cubicBezTo>
                    <a:pt x="5192129" y="1658352"/>
                    <a:pt x="5176239" y="1664934"/>
                    <a:pt x="5159670" y="1664934"/>
                  </a:cubicBezTo>
                  <a:lnTo>
                    <a:pt x="62473" y="1664934"/>
                  </a:lnTo>
                  <a:cubicBezTo>
                    <a:pt x="45904" y="1664934"/>
                    <a:pt x="30014" y="1658352"/>
                    <a:pt x="18298" y="1646636"/>
                  </a:cubicBezTo>
                  <a:cubicBezTo>
                    <a:pt x="6582" y="1634920"/>
                    <a:pt x="0" y="1619030"/>
                    <a:pt x="0" y="1602461"/>
                  </a:cubicBezTo>
                  <a:lnTo>
                    <a:pt x="0" y="62473"/>
                  </a:lnTo>
                  <a:cubicBezTo>
                    <a:pt x="0" y="45904"/>
                    <a:pt x="6582" y="30014"/>
                    <a:pt x="18298" y="18298"/>
                  </a:cubicBezTo>
                  <a:cubicBezTo>
                    <a:pt x="30014" y="6582"/>
                    <a:pt x="45904" y="0"/>
                    <a:pt x="62473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22143" cy="17030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7507" y="1352649"/>
            <a:ext cx="8442500" cy="48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5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Conditional Variational Autoencoder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64772" y="2157890"/>
            <a:ext cx="8279019" cy="1971416"/>
            <a:chOff x="0" y="0"/>
            <a:chExt cx="11038692" cy="2628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38692" cy="2621689"/>
            </a:xfrm>
            <a:custGeom>
              <a:avLst/>
              <a:gdLst/>
              <a:ahLst/>
              <a:cxnLst/>
              <a:rect r="r" b="b" t="t" l="l"/>
              <a:pathLst>
                <a:path h="2621689" w="11038692">
                  <a:moveTo>
                    <a:pt x="0" y="0"/>
                  </a:moveTo>
                  <a:lnTo>
                    <a:pt x="11038692" y="0"/>
                  </a:lnTo>
                  <a:lnTo>
                    <a:pt x="11038692" y="2621689"/>
                  </a:lnTo>
                  <a:lnTo>
                    <a:pt x="0" y="2621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2500072" y="2393418"/>
              <a:ext cx="6248002" cy="213198"/>
              <a:chOff x="0" y="0"/>
              <a:chExt cx="1234173" cy="4211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34173" cy="42113"/>
              </a:xfrm>
              <a:custGeom>
                <a:avLst/>
                <a:gdLst/>
                <a:ahLst/>
                <a:cxnLst/>
                <a:rect r="r" b="b" t="t" l="l"/>
                <a:pathLst>
                  <a:path h="42113" w="1234173">
                    <a:moveTo>
                      <a:pt x="0" y="0"/>
                    </a:moveTo>
                    <a:lnTo>
                      <a:pt x="1234173" y="0"/>
                    </a:lnTo>
                    <a:lnTo>
                      <a:pt x="1234173" y="42113"/>
                    </a:lnTo>
                    <a:lnTo>
                      <a:pt x="0" y="42113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234173" cy="802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2165336"/>
              <a:ext cx="238340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2B2B2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3x512x512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655291" y="2165336"/>
              <a:ext cx="238340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2B2B2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3x512x512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1106840">
              <a:off x="5370975" y="1843954"/>
              <a:ext cx="238340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2B2B2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cond = 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7294" y="6128014"/>
            <a:ext cx="16805902" cy="3519916"/>
            <a:chOff x="0" y="0"/>
            <a:chExt cx="22407869" cy="469322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7212595" y="0"/>
              <a:ext cx="5195274" cy="4669086"/>
            </a:xfrm>
            <a:custGeom>
              <a:avLst/>
              <a:gdLst/>
              <a:ahLst/>
              <a:cxnLst/>
              <a:rect r="r" b="b" t="t" l="l"/>
              <a:pathLst>
                <a:path h="4669086" w="5195274">
                  <a:moveTo>
                    <a:pt x="0" y="0"/>
                  </a:moveTo>
                  <a:lnTo>
                    <a:pt x="5195274" y="0"/>
                  </a:lnTo>
                  <a:lnTo>
                    <a:pt x="5195274" y="4669086"/>
                  </a:lnTo>
                  <a:lnTo>
                    <a:pt x="0" y="4669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0879113" y="24135"/>
              <a:ext cx="5666837" cy="4669086"/>
            </a:xfrm>
            <a:custGeom>
              <a:avLst/>
              <a:gdLst/>
              <a:ahLst/>
              <a:cxnLst/>
              <a:rect r="r" b="b" t="t" l="l"/>
              <a:pathLst>
                <a:path h="4669086" w="5666837">
                  <a:moveTo>
                    <a:pt x="0" y="0"/>
                  </a:moveTo>
                  <a:lnTo>
                    <a:pt x="5666836" y="0"/>
                  </a:lnTo>
                  <a:lnTo>
                    <a:pt x="5666836" y="4669086"/>
                  </a:lnTo>
                  <a:lnTo>
                    <a:pt x="0" y="4669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081789" y="844022"/>
              <a:ext cx="6130677" cy="2981042"/>
            </a:xfrm>
            <a:custGeom>
              <a:avLst/>
              <a:gdLst/>
              <a:ahLst/>
              <a:cxnLst/>
              <a:rect r="r" b="b" t="t" l="l"/>
              <a:pathLst>
                <a:path h="2981042" w="6130677">
                  <a:moveTo>
                    <a:pt x="0" y="0"/>
                  </a:moveTo>
                  <a:lnTo>
                    <a:pt x="6130678" y="0"/>
                  </a:lnTo>
                  <a:lnTo>
                    <a:pt x="6130678" y="2981042"/>
                  </a:lnTo>
                  <a:lnTo>
                    <a:pt x="0" y="2981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24135"/>
              <a:ext cx="3570442" cy="4669086"/>
            </a:xfrm>
            <a:custGeom>
              <a:avLst/>
              <a:gdLst/>
              <a:ahLst/>
              <a:cxnLst/>
              <a:rect r="r" b="b" t="t" l="l"/>
              <a:pathLst>
                <a:path h="4669086" w="3570442">
                  <a:moveTo>
                    <a:pt x="0" y="0"/>
                  </a:moveTo>
                  <a:lnTo>
                    <a:pt x="3570442" y="0"/>
                  </a:lnTo>
                  <a:lnTo>
                    <a:pt x="3570442" y="4669086"/>
                  </a:lnTo>
                  <a:lnTo>
                    <a:pt x="0" y="4669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453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73720" y="4434106"/>
            <a:ext cx="17526082" cy="1657985"/>
            <a:chOff x="0" y="0"/>
            <a:chExt cx="23368109" cy="221064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86771"/>
              <a:ext cx="23368109" cy="1856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06"/>
                </a:lnSpc>
              </a:pPr>
              <a:r>
                <a:rPr lang="en-US" sz="1711">
                  <a:solidFill>
                    <a:srgbClr val="928B86"/>
                  </a:solidFill>
                  <a:latin typeface="Poppins"/>
                  <a:ea typeface="Poppins"/>
                  <a:cs typeface="Poppins"/>
                  <a:sym typeface="Poppins"/>
                </a:rPr>
                <a:t>11_pyt_CVAE_MLP_treino_MNIST</a:t>
              </a:r>
              <a:r>
                <a:rPr lang="en-US" sz="1711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                 CVAE_CONV32Base_MIQR</a:t>
              </a:r>
            </a:p>
            <a:p>
              <a:pPr algn="ctr">
                <a:lnSpc>
                  <a:spcPts val="2806"/>
                </a:lnSpc>
              </a:pPr>
              <a:r>
                <a:rPr lang="en-US" b="true" sz="171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CVAE_CONV64_MIQR                                                  </a:t>
              </a:r>
              <a:r>
                <a:rPr lang="en-US" sz="1711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CVAE_EFFI64                                                           CVAE_RES64</a:t>
              </a:r>
            </a:p>
            <a:p>
              <a:pPr algn="ctr">
                <a:lnSpc>
                  <a:spcPts val="2806"/>
                </a:lnSpc>
              </a:pPr>
              <a:r>
                <a:rPr lang="en-US" sz="1711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               </a:t>
              </a:r>
              <a:r>
                <a:rPr lang="en-US" b="true" sz="171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CVAE_CONV64_MIQR                                       </a:t>
              </a:r>
              <a:r>
                <a:rPr lang="en-US" sz="1711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CVAE_CONV128_MIQR                                              CVAE_CONV256_MIQR</a:t>
              </a:r>
            </a:p>
            <a:p>
              <a:pPr algn="ctr">
                <a:lnSpc>
                  <a:spcPts val="2806"/>
                </a:lnSpc>
              </a:pPr>
              <a:r>
                <a:rPr lang="en-US" b="true" sz="1711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CVAE_CONV64_MIQR                                                      </a:t>
              </a:r>
              <a:r>
                <a:rPr lang="en-US" sz="1711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CVAE_CONV64Full_MIQR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313387" y="-57150"/>
              <a:ext cx="1634909" cy="22677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Etapa </a:t>
              </a:r>
              <a:r>
                <a:rPr lang="en-US" sz="1999" b="true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1: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Etapa </a:t>
              </a:r>
              <a:r>
                <a:rPr lang="en-US" sz="1999" b="true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Etapa </a:t>
              </a:r>
              <a:r>
                <a:rPr lang="en-US" sz="1999" b="true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  <a:p>
              <a:pPr algn="ctr">
                <a:lnSpc>
                  <a:spcPts val="2799"/>
                </a:lnSpc>
              </a:pPr>
              <a:r>
                <a:rPr lang="en-US" sz="1999">
                  <a:solidFill>
                    <a:srgbClr val="2B2B2B"/>
                  </a:solidFill>
                  <a:latin typeface="Poppins"/>
                  <a:ea typeface="Poppins"/>
                  <a:cs typeface="Poppins"/>
                  <a:sym typeface="Poppins"/>
                </a:rPr>
                <a:t>Etapa </a:t>
              </a:r>
              <a:r>
                <a:rPr lang="en-US" sz="1999" b="true">
                  <a:solidFill>
                    <a:srgbClr val="2B2B2B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  <a:p>
              <a:pPr algn="ctr">
                <a:lnSpc>
                  <a:spcPts val="238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027674" y="483726"/>
            <a:ext cx="8580607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EXPERIMENTOS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024287" y="818221"/>
            <a:ext cx="12619885" cy="3311085"/>
            <a:chOff x="0" y="0"/>
            <a:chExt cx="16826513" cy="441478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10720446" y="2361293"/>
              <a:ext cx="3504768" cy="1353621"/>
              <a:chOff x="0" y="0"/>
              <a:chExt cx="692300" cy="267382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92300" cy="267382"/>
              </a:xfrm>
              <a:custGeom>
                <a:avLst/>
                <a:gdLst/>
                <a:ahLst/>
                <a:cxnLst/>
                <a:rect r="r" b="b" t="t" l="l"/>
                <a:pathLst>
                  <a:path h="267382" w="692300">
                    <a:moveTo>
                      <a:pt x="67742" y="0"/>
                    </a:moveTo>
                    <a:lnTo>
                      <a:pt x="624558" y="0"/>
                    </a:lnTo>
                    <a:cubicBezTo>
                      <a:pt x="642524" y="0"/>
                      <a:pt x="659755" y="7137"/>
                      <a:pt x="672459" y="19841"/>
                    </a:cubicBezTo>
                    <a:cubicBezTo>
                      <a:pt x="685163" y="32545"/>
                      <a:pt x="692300" y="49775"/>
                      <a:pt x="692300" y="67742"/>
                    </a:cubicBezTo>
                    <a:lnTo>
                      <a:pt x="692300" y="199640"/>
                    </a:lnTo>
                    <a:cubicBezTo>
                      <a:pt x="692300" y="217606"/>
                      <a:pt x="685163" y="234837"/>
                      <a:pt x="672459" y="247541"/>
                    </a:cubicBezTo>
                    <a:cubicBezTo>
                      <a:pt x="659755" y="260245"/>
                      <a:pt x="642524" y="267382"/>
                      <a:pt x="624558" y="267382"/>
                    </a:cubicBezTo>
                    <a:lnTo>
                      <a:pt x="67742" y="267382"/>
                    </a:lnTo>
                    <a:cubicBezTo>
                      <a:pt x="49775" y="267382"/>
                      <a:pt x="32545" y="260245"/>
                      <a:pt x="19841" y="247541"/>
                    </a:cubicBezTo>
                    <a:cubicBezTo>
                      <a:pt x="7137" y="234837"/>
                      <a:pt x="0" y="217606"/>
                      <a:pt x="0" y="199640"/>
                    </a:cubicBezTo>
                    <a:lnTo>
                      <a:pt x="0" y="67742"/>
                    </a:lnTo>
                    <a:cubicBezTo>
                      <a:pt x="0" y="49775"/>
                      <a:pt x="7137" y="32545"/>
                      <a:pt x="19841" y="19841"/>
                    </a:cubicBezTo>
                    <a:cubicBezTo>
                      <a:pt x="32545" y="7137"/>
                      <a:pt x="49775" y="0"/>
                      <a:pt x="67742" y="0"/>
                    </a:cubicBezTo>
                    <a:close/>
                  </a:path>
                </a:pathLst>
              </a:custGeom>
              <a:solidFill>
                <a:srgbClr val="58A9D9"/>
              </a:solidFill>
              <a:ln w="857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66675"/>
                <a:ext cx="692300" cy="3340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XGBoost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2350417"/>
              <a:ext cx="746653" cy="746653"/>
              <a:chOff x="0" y="0"/>
              <a:chExt cx="81280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-6100554">
              <a:off x="2744065" y="-1689101"/>
              <a:ext cx="2211571" cy="6950652"/>
            </a:xfrm>
            <a:custGeom>
              <a:avLst/>
              <a:gdLst/>
              <a:ahLst/>
              <a:cxnLst/>
              <a:rect r="r" b="b" t="t" l="l"/>
              <a:pathLst>
                <a:path h="6950652" w="2211571">
                  <a:moveTo>
                    <a:pt x="0" y="0"/>
                  </a:moveTo>
                  <a:lnTo>
                    <a:pt x="2211572" y="0"/>
                  </a:lnTo>
                  <a:lnTo>
                    <a:pt x="2211572" y="6950653"/>
                  </a:lnTo>
                  <a:lnTo>
                    <a:pt x="0" y="6950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8806690" y="2503756"/>
              <a:ext cx="1755487" cy="1068695"/>
              <a:chOff x="0" y="0"/>
              <a:chExt cx="1072394" cy="65284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72394" cy="652846"/>
              </a:xfrm>
              <a:custGeom>
                <a:avLst/>
                <a:gdLst/>
                <a:ahLst/>
                <a:cxnLst/>
                <a:rect r="r" b="b" t="t" l="l"/>
                <a:pathLst>
                  <a:path h="652846" w="1072394">
                    <a:moveTo>
                      <a:pt x="1072394" y="326423"/>
                    </a:moveTo>
                    <a:lnTo>
                      <a:pt x="665994" y="0"/>
                    </a:lnTo>
                    <a:lnTo>
                      <a:pt x="665994" y="203200"/>
                    </a:lnTo>
                    <a:lnTo>
                      <a:pt x="0" y="203200"/>
                    </a:lnTo>
                    <a:lnTo>
                      <a:pt x="0" y="449646"/>
                    </a:lnTo>
                    <a:lnTo>
                      <a:pt x="665994" y="449646"/>
                    </a:lnTo>
                    <a:lnTo>
                      <a:pt x="665994" y="652846"/>
                    </a:lnTo>
                    <a:lnTo>
                      <a:pt x="1072394" y="326423"/>
                    </a:lnTo>
                    <a:close/>
                  </a:path>
                </a:pathLst>
              </a:custGeom>
              <a:solidFill>
                <a:srgbClr val="16718E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107950"/>
                <a:ext cx="970794" cy="3416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52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7311338" y="2678817"/>
              <a:ext cx="699294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2B2B2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sexo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6843530" y="3058970"/>
              <a:ext cx="1634909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2B2B2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idade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600270" y="3439124"/>
              <a:ext cx="238340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2B2B2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equipamento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7103931" y="2298663"/>
              <a:ext cx="1114107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2B2B2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mu[64]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14555415" y="2526840"/>
              <a:ext cx="1175406" cy="950384"/>
              <a:chOff x="0" y="0"/>
              <a:chExt cx="718033" cy="58057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718033" cy="580571"/>
              </a:xfrm>
              <a:custGeom>
                <a:avLst/>
                <a:gdLst/>
                <a:ahLst/>
                <a:cxnLst/>
                <a:rect r="r" b="b" t="t" l="l"/>
                <a:pathLst>
                  <a:path h="580571" w="718033">
                    <a:moveTo>
                      <a:pt x="718033" y="290286"/>
                    </a:moveTo>
                    <a:lnTo>
                      <a:pt x="311633" y="0"/>
                    </a:lnTo>
                    <a:lnTo>
                      <a:pt x="311633" y="203200"/>
                    </a:lnTo>
                    <a:lnTo>
                      <a:pt x="0" y="203200"/>
                    </a:lnTo>
                    <a:lnTo>
                      <a:pt x="0" y="377371"/>
                    </a:lnTo>
                    <a:lnTo>
                      <a:pt x="311633" y="377371"/>
                    </a:lnTo>
                    <a:lnTo>
                      <a:pt x="311633" y="580571"/>
                    </a:lnTo>
                    <a:lnTo>
                      <a:pt x="718033" y="290286"/>
                    </a:lnTo>
                    <a:close/>
                  </a:path>
                </a:pathLst>
              </a:custGeom>
              <a:solidFill>
                <a:srgbClr val="16718E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07950"/>
                <a:ext cx="616433" cy="2694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52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6315020" y="2317502"/>
              <a:ext cx="511493" cy="1159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14"/>
                </a:lnSpc>
                <a:spcBef>
                  <a:spcPct val="0"/>
                </a:spcBef>
              </a:pPr>
              <a:r>
                <a:rPr lang="en-US" b="true" sz="5224">
                  <a:solidFill>
                    <a:srgbClr val="2B2B2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16367884" y="2127425"/>
              <a:ext cx="405765" cy="1159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14"/>
                </a:lnSpc>
                <a:spcBef>
                  <a:spcPct val="0"/>
                </a:spcBef>
              </a:pPr>
              <a:r>
                <a:rPr lang="en-US" b="true" sz="5224">
                  <a:solidFill>
                    <a:srgbClr val="2B2B2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^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1649957" y="3748690"/>
              <a:ext cx="1634909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2B2B2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Optuna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1106840">
              <a:off x="227591" y="3630179"/>
              <a:ext cx="2383401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2B2B2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cond = y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4559" y="-353945"/>
            <a:ext cx="19827825" cy="3573853"/>
            <a:chOff x="0" y="0"/>
            <a:chExt cx="5222143" cy="941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2143" cy="941262"/>
            </a:xfrm>
            <a:custGeom>
              <a:avLst/>
              <a:gdLst/>
              <a:ahLst/>
              <a:cxnLst/>
              <a:rect r="r" b="b" t="t" l="l"/>
              <a:pathLst>
                <a:path h="941262" w="5222143">
                  <a:moveTo>
                    <a:pt x="62473" y="0"/>
                  </a:moveTo>
                  <a:lnTo>
                    <a:pt x="5159670" y="0"/>
                  </a:lnTo>
                  <a:cubicBezTo>
                    <a:pt x="5194173" y="0"/>
                    <a:pt x="5222143" y="27970"/>
                    <a:pt x="5222143" y="62473"/>
                  </a:cubicBezTo>
                  <a:lnTo>
                    <a:pt x="5222143" y="878789"/>
                  </a:lnTo>
                  <a:cubicBezTo>
                    <a:pt x="5222143" y="895357"/>
                    <a:pt x="5215561" y="911248"/>
                    <a:pt x="5203845" y="922964"/>
                  </a:cubicBezTo>
                  <a:cubicBezTo>
                    <a:pt x="5192129" y="934680"/>
                    <a:pt x="5176239" y="941262"/>
                    <a:pt x="5159670" y="941262"/>
                  </a:cubicBezTo>
                  <a:lnTo>
                    <a:pt x="62473" y="941262"/>
                  </a:lnTo>
                  <a:cubicBezTo>
                    <a:pt x="45904" y="941262"/>
                    <a:pt x="30014" y="934680"/>
                    <a:pt x="18298" y="922964"/>
                  </a:cubicBezTo>
                  <a:cubicBezTo>
                    <a:pt x="6582" y="911248"/>
                    <a:pt x="0" y="895357"/>
                    <a:pt x="0" y="878789"/>
                  </a:cubicBezTo>
                  <a:lnTo>
                    <a:pt x="0" y="62473"/>
                  </a:lnTo>
                  <a:cubicBezTo>
                    <a:pt x="0" y="45904"/>
                    <a:pt x="6582" y="30014"/>
                    <a:pt x="18298" y="18298"/>
                  </a:cubicBezTo>
                  <a:cubicBezTo>
                    <a:pt x="30014" y="6582"/>
                    <a:pt x="45904" y="0"/>
                    <a:pt x="62473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22143" cy="979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2442" y="3267533"/>
            <a:ext cx="14815156" cy="6926085"/>
          </a:xfrm>
          <a:custGeom>
            <a:avLst/>
            <a:gdLst/>
            <a:ahLst/>
            <a:cxnLst/>
            <a:rect r="r" b="b" t="t" l="l"/>
            <a:pathLst>
              <a:path h="6926085" w="14815156">
                <a:moveTo>
                  <a:pt x="0" y="0"/>
                </a:moveTo>
                <a:lnTo>
                  <a:pt x="14815156" y="0"/>
                </a:lnTo>
                <a:lnTo>
                  <a:pt x="14815156" y="6926085"/>
                </a:lnTo>
                <a:lnTo>
                  <a:pt x="0" y="6926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7507" y="1349791"/>
            <a:ext cx="8442500" cy="48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5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Conditional Variational Autoencoder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27674" y="483726"/>
            <a:ext cx="8580607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6868" y="1925453"/>
            <a:ext cx="3317281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Entrada e saída: 3x512x512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70353" y="1911005"/>
            <a:ext cx="4845047" cy="33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loss = l1_loss + beta * kl_loss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70353" y="2649951"/>
            <a:ext cx="4845047" cy="33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scheduler = ReduceLROnPlateau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6868" y="2269784"/>
            <a:ext cx="4845047" cy="33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LEARNING_RATE = 1e-4, unfreeze = 5e-5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70353" y="2269784"/>
            <a:ext cx="4845047" cy="33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optimizer = torch.optim.Adam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6868" y="2649951"/>
            <a:ext cx="4845047" cy="33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BATCH_SIZE = 16 (ou 128 para o Full)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58398" y="2269784"/>
            <a:ext cx="4845047" cy="33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Train = 1.067 / Full = 14.715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58398" y="2628562"/>
            <a:ext cx="4845047" cy="33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 Val  = 234     Test = 267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858398" y="1911005"/>
            <a:ext cx="7357174" cy="337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5"/>
              </a:lnSpc>
              <a:spcBef>
                <a:spcPct val="0"/>
              </a:spcBef>
            </a:pPr>
            <a:r>
              <a:rPr lang="en-US" sz="1932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Transforms = NormalizeIntensity -&gt; ScaleIntensityRange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322016" y="-2647528"/>
            <a:ext cx="13453061" cy="14820360"/>
            <a:chOff x="0" y="0"/>
            <a:chExt cx="812800" cy="8954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95409"/>
            </a:xfrm>
            <a:custGeom>
              <a:avLst/>
              <a:gdLst/>
              <a:ahLst/>
              <a:cxnLst/>
              <a:rect r="r" b="b" t="t" l="l"/>
              <a:pathLst>
                <a:path h="895409" w="812800">
                  <a:moveTo>
                    <a:pt x="406400" y="0"/>
                  </a:moveTo>
                  <a:cubicBezTo>
                    <a:pt x="181951" y="0"/>
                    <a:pt x="0" y="200444"/>
                    <a:pt x="0" y="447704"/>
                  </a:cubicBezTo>
                  <a:cubicBezTo>
                    <a:pt x="0" y="694965"/>
                    <a:pt x="181951" y="895409"/>
                    <a:pt x="406400" y="895409"/>
                  </a:cubicBezTo>
                  <a:cubicBezTo>
                    <a:pt x="630849" y="895409"/>
                    <a:pt x="812800" y="694965"/>
                    <a:pt x="812800" y="447704"/>
                  </a:cubicBezTo>
                  <a:cubicBezTo>
                    <a:pt x="812800" y="200444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1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5845"/>
              <a:ext cx="660400" cy="7656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5479" y="3046315"/>
            <a:ext cx="8442500" cy="4823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Foi possível obter resultados superiores a baseline definida, porém uma análise mais aprofundada dos resultados torna possível perceber que os modelos treinados não generalizam bem para a classe minoritária Biliary Leaks.</a:t>
            </a:r>
          </a:p>
          <a:p>
            <a:pPr algn="just">
              <a:lnSpc>
                <a:spcPts val="2952"/>
              </a:lnSpc>
            </a:pP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Além disso, apresentam muitos falso negativos, o que num contexto médico torna os modelos não apropriados para uso, já que podem inferir um exame normal, quando na verdade, o paciente tem uma doença. O que pode acarretar em falta de tratamento médico adequado.</a:t>
            </a:r>
          </a:p>
          <a:p>
            <a:pPr algn="just">
              <a:lnSpc>
                <a:spcPts val="2952"/>
              </a:lnSpc>
            </a:pPr>
          </a:p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 anotação das imagens dadas como “unlabelled” no dataset e/ou a adição de mais imagens anotadas seriam de grande valor para melhorar os modelos e trazer mais segurança às classificações feitas.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94656" y="3046315"/>
            <a:ext cx="5329286" cy="3709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2"/>
              </a:lnSpc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Apesar disso, temos ideias para experimentos futuros que podem trazer melhorias para os resultados obtidos: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Aplicação do 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MSFE para Feature Extraction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Emsembles de modelos convolucionais diferentes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Investigação a cerca de outros modelos de T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ransformers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Alterações no pré-processamento para simular imagens da classe minoritária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9030" y="483726"/>
            <a:ext cx="11025499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CONCLUSÕES E TRABALHOS FUTUROS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15680"/>
            <a:ext cx="16230600" cy="519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Pata, Cengiz. 2024. </a:t>
            </a:r>
            <a:r>
              <a:rPr lang="en-US" b="true" sz="1800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ERCP?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. Disponível em: https://cengizpata.com/en/what-is-ercp/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Martins, Monica et al. 2026. </a:t>
            </a:r>
            <a:r>
              <a:rPr lang="en-US" b="true" sz="1800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Curated endoscopic retrograde cholangiopancreatography images dataset.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Disponível em https://arxiv.org/abs/2601.16759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Nabil, Hadiur et al. 2025. </a:t>
            </a:r>
            <a:r>
              <a:rPr lang="en-US" b="true" sz="1800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MSFE-GallNet-X: a multi-scale feature extraction-based CNN Model for gallbladder disease analysis with enhanced explainability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. Disponível em: https://pmc.ncbi.nlm.nih.gov/articles/PMC12399013/#Abs1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Wang, Xiao et al. 2024.</a:t>
            </a:r>
            <a:r>
              <a:rPr lang="en-US" b="true" sz="1800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 Pre-training on High Definition X-ray Images: An Experimental Study. 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Disponível em: https://arxiv.org/abs/2404.17926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Randellini, Enrico. 2023.</a:t>
            </a:r>
            <a:r>
              <a:rPr lang="en-US" b="true" sz="1800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 Image classification: ResNet vs EfficientNet vs EfficientNet_v2 vs Compact Convolutional Transformers.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Disponível em: https://medium.com/@enrico.randellini/image-classification-resnet-vs-efficientnet-vs-efficientnet-v2-vs-compact-convolutional-c205838bbf49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Aggarwal, Rohit e Hayes, Stephen. 2025. </a:t>
            </a:r>
            <a:r>
              <a:rPr lang="en-US" b="true" sz="1800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Image Classification: State-of-the-Art Models in 2025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. Disponível em: https://madailab.com/image-classification-state-of-the-art-models-in-2025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PyTorch. </a:t>
            </a:r>
            <a:r>
              <a:rPr lang="en-US" b="true" sz="1800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Models and pre-trained weights.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Disponível em: https://docs.pytorch.org/vision/main/models.html</a:t>
            </a:r>
          </a:p>
          <a:p>
            <a:pPr algn="just" marL="388620" indent="-194310" lvl="1">
              <a:lnSpc>
                <a:spcPts val="2952"/>
              </a:lnSpc>
              <a:buFont typeface="Arial"/>
              <a:buChar char="•"/>
            </a:pP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MONAI. </a:t>
            </a:r>
            <a:r>
              <a:rPr lang="en-US" b="true" sz="1800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MONAI.</a:t>
            </a:r>
            <a:r>
              <a:rPr lang="en-US" sz="180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 Disponível em: https://project-monai.github.io/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27507" y="429261"/>
            <a:ext cx="1402385" cy="752029"/>
          </a:xfrm>
          <a:custGeom>
            <a:avLst/>
            <a:gdLst/>
            <a:ahLst/>
            <a:cxnLst/>
            <a:rect r="r" b="b" t="t" l="l"/>
            <a:pathLst>
              <a:path h="752029" w="1402385">
                <a:moveTo>
                  <a:pt x="0" y="0"/>
                </a:moveTo>
                <a:lnTo>
                  <a:pt x="1402386" y="0"/>
                </a:lnTo>
                <a:lnTo>
                  <a:pt x="1402386" y="752029"/>
                </a:lnTo>
                <a:lnTo>
                  <a:pt x="0" y="75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27674" y="483726"/>
            <a:ext cx="8580607" cy="69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spc="-115" b="true">
                <a:solidFill>
                  <a:srgbClr val="2B2B2B"/>
                </a:solidFill>
                <a:latin typeface="Poppins Bold"/>
                <a:ea typeface="Poppins Bold"/>
                <a:cs typeface="Poppins Bold"/>
                <a:sym typeface="Poppins Bold"/>
              </a:rPr>
              <a:t>REFERÊNCIAS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DAHK228jVbM</dc:identifier>
  <dcterms:modified xsi:type="dcterms:W3CDTF">2011-08-01T06:04:30Z</dcterms:modified>
  <cp:revision>1</cp:revision>
  <dc:title>Aprendizagem Profunda - MIQR-CC</dc:title>
</cp:coreProperties>
</file>